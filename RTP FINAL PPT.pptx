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7" r:id="rId3"/>
    <p:sldId id="258" r:id="rId4"/>
    <p:sldId id="270" r:id="rId5"/>
    <p:sldId id="259" r:id="rId6"/>
    <p:sldId id="264" r:id="rId7"/>
    <p:sldId id="265" r:id="rId8"/>
    <p:sldId id="272" r:id="rId9"/>
    <p:sldId id="260" r:id="rId10"/>
    <p:sldId id="268" r:id="rId11"/>
    <p:sldId id="262" r:id="rId12"/>
    <p:sldId id="266" r:id="rId13"/>
    <p:sldId id="273" r:id="rId14"/>
    <p:sldId id="263" r:id="rId15"/>
    <p:sldId id="269" r:id="rId16"/>
    <p:sldId id="275" r:id="rId17"/>
    <p:sldId id="276" r:id="rId18"/>
    <p:sldId id="277" r:id="rId19"/>
    <p:sldId id="278" r:id="rId20"/>
    <p:sldId id="279" r:id="rId21"/>
    <p:sldId id="280" r:id="rId22"/>
    <p:sldId id="281" r:id="rId23"/>
    <p:sldId id="282" r:id="rId24"/>
    <p:sldId id="283"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DD9DBE-B497-417F-B0D1-E85C0C83DB89}" v="16" dt="2024-06-22T04:29:19.155"/>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04" autoAdjust="0"/>
    <p:restoredTop sz="95033" autoAdjust="0"/>
  </p:normalViewPr>
  <p:slideViewPr>
    <p:cSldViewPr snapToGrid="0">
      <p:cViewPr>
        <p:scale>
          <a:sx n="75" d="100"/>
          <a:sy n="75" d="100"/>
        </p:scale>
        <p:origin x="965"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14A9D4-606B-491C-9951-504E32205029}" type="datetimeFigureOut">
              <a:rPr lang="en-IN" smtClean="0"/>
              <a:t>22-06-2024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0C3F35-2A75-4682-81CD-2D75F9E882CD}" type="slidenum">
              <a:rPr lang="en-IN" smtClean="0"/>
              <a:t>‹#›</a:t>
            </a:fld>
            <a:endParaRPr lang="en-IN"/>
          </a:p>
        </p:txBody>
      </p:sp>
    </p:spTree>
    <p:extLst>
      <p:ext uri="{BB962C8B-B14F-4D97-AF65-F5344CB8AC3E}">
        <p14:creationId xmlns:p14="http://schemas.microsoft.com/office/powerpoint/2010/main" val="32590364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16691-EBDD-C280-A84B-D460EE65DA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494193F-71A6-4D45-A7A4-33FFF19B11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13551A5-99C0-AED3-B5CB-97766139A202}"/>
              </a:ext>
            </a:extLst>
          </p:cNvPr>
          <p:cNvSpPr>
            <a:spLocks noGrp="1"/>
          </p:cNvSpPr>
          <p:nvPr>
            <p:ph type="dt" sz="half" idx="10"/>
          </p:nvPr>
        </p:nvSpPr>
        <p:spPr/>
        <p:txBody>
          <a:bodyPr/>
          <a:lstStyle/>
          <a:p>
            <a:fld id="{0EAF6836-02DC-460C-A47B-4412E76F3FA3}" type="datetimeFigureOut">
              <a:rPr lang="en-IN" smtClean="0"/>
              <a:t>22-06-2024</a:t>
            </a:fld>
            <a:endParaRPr lang="en-IN"/>
          </a:p>
        </p:txBody>
      </p:sp>
      <p:sp>
        <p:nvSpPr>
          <p:cNvPr id="5" name="Footer Placeholder 4">
            <a:extLst>
              <a:ext uri="{FF2B5EF4-FFF2-40B4-BE49-F238E27FC236}">
                <a16:creationId xmlns:a16="http://schemas.microsoft.com/office/drawing/2014/main" id="{8F2B468B-6EFF-42C5-5B81-3CDD84AA84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C14B9A-F06C-9906-C009-3A4F8A07B96D}"/>
              </a:ext>
            </a:extLst>
          </p:cNvPr>
          <p:cNvSpPr>
            <a:spLocks noGrp="1"/>
          </p:cNvSpPr>
          <p:nvPr>
            <p:ph type="sldNum" sz="quarter" idx="12"/>
          </p:nvPr>
        </p:nvSpPr>
        <p:spPr/>
        <p:txBody>
          <a:bodyPr/>
          <a:lstStyle/>
          <a:p>
            <a:fld id="{70E8C43B-87D4-477A-A141-02B5EF93BB25}" type="slidenum">
              <a:rPr lang="en-IN" smtClean="0"/>
              <a:t>‹#›</a:t>
            </a:fld>
            <a:endParaRPr lang="en-IN"/>
          </a:p>
        </p:txBody>
      </p:sp>
    </p:spTree>
    <p:extLst>
      <p:ext uri="{BB962C8B-B14F-4D97-AF65-F5344CB8AC3E}">
        <p14:creationId xmlns:p14="http://schemas.microsoft.com/office/powerpoint/2010/main" val="36952334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AEF12-D0BE-0202-3B42-6F5CC848A7F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3F61849-1B0D-F5D0-F2F6-89BD058CFE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458A8B-BE0C-EA21-9F3F-62121BF07B79}"/>
              </a:ext>
            </a:extLst>
          </p:cNvPr>
          <p:cNvSpPr>
            <a:spLocks noGrp="1"/>
          </p:cNvSpPr>
          <p:nvPr>
            <p:ph type="dt" sz="half" idx="10"/>
          </p:nvPr>
        </p:nvSpPr>
        <p:spPr/>
        <p:txBody>
          <a:bodyPr/>
          <a:lstStyle/>
          <a:p>
            <a:fld id="{0EAF6836-02DC-460C-A47B-4412E76F3FA3}" type="datetimeFigureOut">
              <a:rPr lang="en-IN" smtClean="0"/>
              <a:t>22-06-2024</a:t>
            </a:fld>
            <a:endParaRPr lang="en-IN"/>
          </a:p>
        </p:txBody>
      </p:sp>
      <p:sp>
        <p:nvSpPr>
          <p:cNvPr id="5" name="Footer Placeholder 4">
            <a:extLst>
              <a:ext uri="{FF2B5EF4-FFF2-40B4-BE49-F238E27FC236}">
                <a16:creationId xmlns:a16="http://schemas.microsoft.com/office/drawing/2014/main" id="{6FAA9A75-6517-D907-6CD7-92BF902FF2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36E6F7-99F7-F372-694B-3E5C7BA5706E}"/>
              </a:ext>
            </a:extLst>
          </p:cNvPr>
          <p:cNvSpPr>
            <a:spLocks noGrp="1"/>
          </p:cNvSpPr>
          <p:nvPr>
            <p:ph type="sldNum" sz="quarter" idx="12"/>
          </p:nvPr>
        </p:nvSpPr>
        <p:spPr/>
        <p:txBody>
          <a:bodyPr/>
          <a:lstStyle/>
          <a:p>
            <a:fld id="{70E8C43B-87D4-477A-A141-02B5EF93BB25}" type="slidenum">
              <a:rPr lang="en-IN" smtClean="0"/>
              <a:t>‹#›</a:t>
            </a:fld>
            <a:endParaRPr lang="en-IN"/>
          </a:p>
        </p:txBody>
      </p:sp>
    </p:spTree>
    <p:extLst>
      <p:ext uri="{BB962C8B-B14F-4D97-AF65-F5344CB8AC3E}">
        <p14:creationId xmlns:p14="http://schemas.microsoft.com/office/powerpoint/2010/main" val="2809827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B8389-9272-7B98-9C7C-AED9A4F09DA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7FC3E18-C822-E0EB-4F2E-F40A1E01247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6D2E391-965A-D9B6-DFD1-0B39980BFE19}"/>
              </a:ext>
            </a:extLst>
          </p:cNvPr>
          <p:cNvSpPr>
            <a:spLocks noGrp="1"/>
          </p:cNvSpPr>
          <p:nvPr>
            <p:ph type="dt" sz="half" idx="10"/>
          </p:nvPr>
        </p:nvSpPr>
        <p:spPr/>
        <p:txBody>
          <a:bodyPr/>
          <a:lstStyle/>
          <a:p>
            <a:fld id="{0EAF6836-02DC-460C-A47B-4412E76F3FA3}" type="datetimeFigureOut">
              <a:rPr lang="en-IN" smtClean="0"/>
              <a:t>22-06-2024</a:t>
            </a:fld>
            <a:endParaRPr lang="en-IN"/>
          </a:p>
        </p:txBody>
      </p:sp>
      <p:sp>
        <p:nvSpPr>
          <p:cNvPr id="5" name="Footer Placeholder 4">
            <a:extLst>
              <a:ext uri="{FF2B5EF4-FFF2-40B4-BE49-F238E27FC236}">
                <a16:creationId xmlns:a16="http://schemas.microsoft.com/office/drawing/2014/main" id="{574CF5C2-218F-CD02-8EAC-E2C4B3D57B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729FECE-661A-49FD-6C98-DA19D9C56DCB}"/>
              </a:ext>
            </a:extLst>
          </p:cNvPr>
          <p:cNvSpPr>
            <a:spLocks noGrp="1"/>
          </p:cNvSpPr>
          <p:nvPr>
            <p:ph type="sldNum" sz="quarter" idx="12"/>
          </p:nvPr>
        </p:nvSpPr>
        <p:spPr/>
        <p:txBody>
          <a:bodyPr/>
          <a:lstStyle/>
          <a:p>
            <a:fld id="{70E8C43B-87D4-477A-A141-02B5EF93BB25}" type="slidenum">
              <a:rPr lang="en-IN" smtClean="0"/>
              <a:t>‹#›</a:t>
            </a:fld>
            <a:endParaRPr lang="en-IN"/>
          </a:p>
        </p:txBody>
      </p:sp>
    </p:spTree>
    <p:extLst>
      <p:ext uri="{BB962C8B-B14F-4D97-AF65-F5344CB8AC3E}">
        <p14:creationId xmlns:p14="http://schemas.microsoft.com/office/powerpoint/2010/main" val="3595750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A5649-9EDA-BC8C-BFC7-A93E7420B73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5333D5C-E038-D98B-3767-AC221364CD5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559C367-7312-DDBA-477A-F2990A8005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7A04972-56AB-8FB8-8021-4032A94821BD}"/>
              </a:ext>
            </a:extLst>
          </p:cNvPr>
          <p:cNvSpPr>
            <a:spLocks noGrp="1"/>
          </p:cNvSpPr>
          <p:nvPr>
            <p:ph type="dt" sz="half" idx="10"/>
          </p:nvPr>
        </p:nvSpPr>
        <p:spPr/>
        <p:txBody>
          <a:bodyPr/>
          <a:lstStyle/>
          <a:p>
            <a:fld id="{0EAF6836-02DC-460C-A47B-4412E76F3FA3}" type="datetimeFigureOut">
              <a:rPr lang="en-IN" smtClean="0"/>
              <a:t>22-06-2024</a:t>
            </a:fld>
            <a:endParaRPr lang="en-IN"/>
          </a:p>
        </p:txBody>
      </p:sp>
      <p:sp>
        <p:nvSpPr>
          <p:cNvPr id="6" name="Footer Placeholder 5">
            <a:extLst>
              <a:ext uri="{FF2B5EF4-FFF2-40B4-BE49-F238E27FC236}">
                <a16:creationId xmlns:a16="http://schemas.microsoft.com/office/drawing/2014/main" id="{D4CE04BA-617A-14C5-E138-5D92763379B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8827066-D9E2-0160-C1CC-5FE85CFAFEB5}"/>
              </a:ext>
            </a:extLst>
          </p:cNvPr>
          <p:cNvSpPr>
            <a:spLocks noGrp="1"/>
          </p:cNvSpPr>
          <p:nvPr>
            <p:ph type="sldNum" sz="quarter" idx="12"/>
          </p:nvPr>
        </p:nvSpPr>
        <p:spPr/>
        <p:txBody>
          <a:bodyPr/>
          <a:lstStyle/>
          <a:p>
            <a:fld id="{70E8C43B-87D4-477A-A141-02B5EF93BB25}" type="slidenum">
              <a:rPr lang="en-IN" smtClean="0"/>
              <a:t>‹#›</a:t>
            </a:fld>
            <a:endParaRPr lang="en-IN"/>
          </a:p>
        </p:txBody>
      </p:sp>
    </p:spTree>
    <p:extLst>
      <p:ext uri="{BB962C8B-B14F-4D97-AF65-F5344CB8AC3E}">
        <p14:creationId xmlns:p14="http://schemas.microsoft.com/office/powerpoint/2010/main" val="32341760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A9D9B-48B7-6D07-081F-25191E04F00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EE1E85D-90A6-1926-94B5-55071B994E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AFA45E-9E1F-D594-F595-165738C4F6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7A1719B-2D96-1BB7-452C-2239DEDF85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1FB1C4-9B36-8CE0-B43C-FC8C6D3037E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42E71DC-5A99-4AC6-9F8B-5C65314320D2}"/>
              </a:ext>
            </a:extLst>
          </p:cNvPr>
          <p:cNvSpPr>
            <a:spLocks noGrp="1"/>
          </p:cNvSpPr>
          <p:nvPr>
            <p:ph type="dt" sz="half" idx="10"/>
          </p:nvPr>
        </p:nvSpPr>
        <p:spPr/>
        <p:txBody>
          <a:bodyPr/>
          <a:lstStyle/>
          <a:p>
            <a:fld id="{0EAF6836-02DC-460C-A47B-4412E76F3FA3}" type="datetimeFigureOut">
              <a:rPr lang="en-IN" smtClean="0"/>
              <a:t>22-06-2024</a:t>
            </a:fld>
            <a:endParaRPr lang="en-IN"/>
          </a:p>
        </p:txBody>
      </p:sp>
      <p:sp>
        <p:nvSpPr>
          <p:cNvPr id="8" name="Footer Placeholder 7">
            <a:extLst>
              <a:ext uri="{FF2B5EF4-FFF2-40B4-BE49-F238E27FC236}">
                <a16:creationId xmlns:a16="http://schemas.microsoft.com/office/drawing/2014/main" id="{19A9C690-7480-948F-A4DA-A94A53A3C10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3B79248-FA77-6845-AC46-776760024821}"/>
              </a:ext>
            </a:extLst>
          </p:cNvPr>
          <p:cNvSpPr>
            <a:spLocks noGrp="1"/>
          </p:cNvSpPr>
          <p:nvPr>
            <p:ph type="sldNum" sz="quarter" idx="12"/>
          </p:nvPr>
        </p:nvSpPr>
        <p:spPr/>
        <p:txBody>
          <a:bodyPr/>
          <a:lstStyle/>
          <a:p>
            <a:fld id="{70E8C43B-87D4-477A-A141-02B5EF93BB25}" type="slidenum">
              <a:rPr lang="en-IN" smtClean="0"/>
              <a:t>‹#›</a:t>
            </a:fld>
            <a:endParaRPr lang="en-IN"/>
          </a:p>
        </p:txBody>
      </p:sp>
    </p:spTree>
    <p:extLst>
      <p:ext uri="{BB962C8B-B14F-4D97-AF65-F5344CB8AC3E}">
        <p14:creationId xmlns:p14="http://schemas.microsoft.com/office/powerpoint/2010/main" val="2061983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F08BC-126E-6F4F-0D8E-2347920A169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801B4A9-4206-D3F0-89F2-4231EFC4E3C9}"/>
              </a:ext>
            </a:extLst>
          </p:cNvPr>
          <p:cNvSpPr>
            <a:spLocks noGrp="1"/>
          </p:cNvSpPr>
          <p:nvPr>
            <p:ph type="dt" sz="half" idx="10"/>
          </p:nvPr>
        </p:nvSpPr>
        <p:spPr/>
        <p:txBody>
          <a:bodyPr/>
          <a:lstStyle/>
          <a:p>
            <a:fld id="{0EAF6836-02DC-460C-A47B-4412E76F3FA3}" type="datetimeFigureOut">
              <a:rPr lang="en-IN" smtClean="0"/>
              <a:t>22-06-2024</a:t>
            </a:fld>
            <a:endParaRPr lang="en-IN"/>
          </a:p>
        </p:txBody>
      </p:sp>
      <p:sp>
        <p:nvSpPr>
          <p:cNvPr id="4" name="Footer Placeholder 3">
            <a:extLst>
              <a:ext uri="{FF2B5EF4-FFF2-40B4-BE49-F238E27FC236}">
                <a16:creationId xmlns:a16="http://schemas.microsoft.com/office/drawing/2014/main" id="{D06B7BDE-47DB-B5FE-E9F9-179D2BF52F4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11D3767-766D-E8B3-79AE-AC4E6AD0EFDF}"/>
              </a:ext>
            </a:extLst>
          </p:cNvPr>
          <p:cNvSpPr>
            <a:spLocks noGrp="1"/>
          </p:cNvSpPr>
          <p:nvPr>
            <p:ph type="sldNum" sz="quarter" idx="12"/>
          </p:nvPr>
        </p:nvSpPr>
        <p:spPr/>
        <p:txBody>
          <a:bodyPr/>
          <a:lstStyle/>
          <a:p>
            <a:fld id="{70E8C43B-87D4-477A-A141-02B5EF93BB25}" type="slidenum">
              <a:rPr lang="en-IN" smtClean="0"/>
              <a:t>‹#›</a:t>
            </a:fld>
            <a:endParaRPr lang="en-IN"/>
          </a:p>
        </p:txBody>
      </p:sp>
    </p:spTree>
    <p:extLst>
      <p:ext uri="{BB962C8B-B14F-4D97-AF65-F5344CB8AC3E}">
        <p14:creationId xmlns:p14="http://schemas.microsoft.com/office/powerpoint/2010/main" val="33730074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6B8012-A5F6-7515-EBE2-D973F34C8088}"/>
              </a:ext>
            </a:extLst>
          </p:cNvPr>
          <p:cNvSpPr>
            <a:spLocks noGrp="1"/>
          </p:cNvSpPr>
          <p:nvPr>
            <p:ph type="dt" sz="half" idx="10"/>
          </p:nvPr>
        </p:nvSpPr>
        <p:spPr/>
        <p:txBody>
          <a:bodyPr/>
          <a:lstStyle/>
          <a:p>
            <a:fld id="{0EAF6836-02DC-460C-A47B-4412E76F3FA3}" type="datetimeFigureOut">
              <a:rPr lang="en-IN" smtClean="0"/>
              <a:t>22-06-2024</a:t>
            </a:fld>
            <a:endParaRPr lang="en-IN"/>
          </a:p>
        </p:txBody>
      </p:sp>
      <p:sp>
        <p:nvSpPr>
          <p:cNvPr id="3" name="Footer Placeholder 2">
            <a:extLst>
              <a:ext uri="{FF2B5EF4-FFF2-40B4-BE49-F238E27FC236}">
                <a16:creationId xmlns:a16="http://schemas.microsoft.com/office/drawing/2014/main" id="{BD145905-14A8-3A95-280E-55440D90A2E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93CAEAF-AE89-239A-708C-9DD638126B32}"/>
              </a:ext>
            </a:extLst>
          </p:cNvPr>
          <p:cNvSpPr>
            <a:spLocks noGrp="1"/>
          </p:cNvSpPr>
          <p:nvPr>
            <p:ph type="sldNum" sz="quarter" idx="12"/>
          </p:nvPr>
        </p:nvSpPr>
        <p:spPr/>
        <p:txBody>
          <a:bodyPr/>
          <a:lstStyle/>
          <a:p>
            <a:fld id="{70E8C43B-87D4-477A-A141-02B5EF93BB25}" type="slidenum">
              <a:rPr lang="en-IN" smtClean="0"/>
              <a:t>‹#›</a:t>
            </a:fld>
            <a:endParaRPr lang="en-IN"/>
          </a:p>
        </p:txBody>
      </p:sp>
    </p:spTree>
    <p:extLst>
      <p:ext uri="{BB962C8B-B14F-4D97-AF65-F5344CB8AC3E}">
        <p14:creationId xmlns:p14="http://schemas.microsoft.com/office/powerpoint/2010/main" val="17553948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0220C-E30F-DA62-2C77-E84053B381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341900D-C5FF-CB87-2FAE-1F9140EE5A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F7675F0-F151-9DCD-EADB-AAF3D4F0F9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5FFC2E-E226-B42C-B344-D497961D4325}"/>
              </a:ext>
            </a:extLst>
          </p:cNvPr>
          <p:cNvSpPr>
            <a:spLocks noGrp="1"/>
          </p:cNvSpPr>
          <p:nvPr>
            <p:ph type="dt" sz="half" idx="10"/>
          </p:nvPr>
        </p:nvSpPr>
        <p:spPr/>
        <p:txBody>
          <a:bodyPr/>
          <a:lstStyle/>
          <a:p>
            <a:fld id="{0EAF6836-02DC-460C-A47B-4412E76F3FA3}" type="datetimeFigureOut">
              <a:rPr lang="en-IN" smtClean="0"/>
              <a:t>22-06-2024</a:t>
            </a:fld>
            <a:endParaRPr lang="en-IN"/>
          </a:p>
        </p:txBody>
      </p:sp>
      <p:sp>
        <p:nvSpPr>
          <p:cNvPr id="6" name="Footer Placeholder 5">
            <a:extLst>
              <a:ext uri="{FF2B5EF4-FFF2-40B4-BE49-F238E27FC236}">
                <a16:creationId xmlns:a16="http://schemas.microsoft.com/office/drawing/2014/main" id="{5E9DC491-30C3-315C-324D-3385DCCD404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55B89D-8F4A-23DA-D9EB-8F01DBBA9E3A}"/>
              </a:ext>
            </a:extLst>
          </p:cNvPr>
          <p:cNvSpPr>
            <a:spLocks noGrp="1"/>
          </p:cNvSpPr>
          <p:nvPr>
            <p:ph type="sldNum" sz="quarter" idx="12"/>
          </p:nvPr>
        </p:nvSpPr>
        <p:spPr/>
        <p:txBody>
          <a:bodyPr/>
          <a:lstStyle/>
          <a:p>
            <a:fld id="{70E8C43B-87D4-477A-A141-02B5EF93BB25}" type="slidenum">
              <a:rPr lang="en-IN" smtClean="0"/>
              <a:t>‹#›</a:t>
            </a:fld>
            <a:endParaRPr lang="en-IN"/>
          </a:p>
        </p:txBody>
      </p:sp>
    </p:spTree>
    <p:extLst>
      <p:ext uri="{BB962C8B-B14F-4D97-AF65-F5344CB8AC3E}">
        <p14:creationId xmlns:p14="http://schemas.microsoft.com/office/powerpoint/2010/main" val="31368868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5DF93-0872-B953-4C0C-4A848DDBB8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EB171FD-1D77-3485-CD35-2D421F41AF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C744942-6EF9-3E44-1F46-606C37F164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890BC5-C071-106D-5244-9AC1A4B37B32}"/>
              </a:ext>
            </a:extLst>
          </p:cNvPr>
          <p:cNvSpPr>
            <a:spLocks noGrp="1"/>
          </p:cNvSpPr>
          <p:nvPr>
            <p:ph type="dt" sz="half" idx="10"/>
          </p:nvPr>
        </p:nvSpPr>
        <p:spPr/>
        <p:txBody>
          <a:bodyPr/>
          <a:lstStyle/>
          <a:p>
            <a:fld id="{0EAF6836-02DC-460C-A47B-4412E76F3FA3}" type="datetimeFigureOut">
              <a:rPr lang="en-IN" smtClean="0"/>
              <a:t>22-06-2024</a:t>
            </a:fld>
            <a:endParaRPr lang="en-IN"/>
          </a:p>
        </p:txBody>
      </p:sp>
      <p:sp>
        <p:nvSpPr>
          <p:cNvPr id="6" name="Footer Placeholder 5">
            <a:extLst>
              <a:ext uri="{FF2B5EF4-FFF2-40B4-BE49-F238E27FC236}">
                <a16:creationId xmlns:a16="http://schemas.microsoft.com/office/drawing/2014/main" id="{827AC271-A4AC-4433-09A7-83E58559A77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A7DC103-2762-7176-C1DB-4F5C6439840D}"/>
              </a:ext>
            </a:extLst>
          </p:cNvPr>
          <p:cNvSpPr>
            <a:spLocks noGrp="1"/>
          </p:cNvSpPr>
          <p:nvPr>
            <p:ph type="sldNum" sz="quarter" idx="12"/>
          </p:nvPr>
        </p:nvSpPr>
        <p:spPr/>
        <p:txBody>
          <a:bodyPr/>
          <a:lstStyle/>
          <a:p>
            <a:fld id="{70E8C43B-87D4-477A-A141-02B5EF93BB25}" type="slidenum">
              <a:rPr lang="en-IN" smtClean="0"/>
              <a:t>‹#›</a:t>
            </a:fld>
            <a:endParaRPr lang="en-IN"/>
          </a:p>
        </p:txBody>
      </p:sp>
    </p:spTree>
    <p:extLst>
      <p:ext uri="{BB962C8B-B14F-4D97-AF65-F5344CB8AC3E}">
        <p14:creationId xmlns:p14="http://schemas.microsoft.com/office/powerpoint/2010/main" val="35389047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E9D8F-78D9-020E-FFBD-D50EEA30223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AC4828C-8D6C-2E72-ED94-6D378BEC36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442980-A31C-54DA-5657-34BFF2C945CC}"/>
              </a:ext>
            </a:extLst>
          </p:cNvPr>
          <p:cNvSpPr>
            <a:spLocks noGrp="1"/>
          </p:cNvSpPr>
          <p:nvPr>
            <p:ph type="dt" sz="half" idx="10"/>
          </p:nvPr>
        </p:nvSpPr>
        <p:spPr/>
        <p:txBody>
          <a:bodyPr/>
          <a:lstStyle/>
          <a:p>
            <a:fld id="{0EAF6836-02DC-460C-A47B-4412E76F3FA3}" type="datetimeFigureOut">
              <a:rPr lang="en-IN" smtClean="0"/>
              <a:t>22-06-2024</a:t>
            </a:fld>
            <a:endParaRPr lang="en-IN"/>
          </a:p>
        </p:txBody>
      </p:sp>
      <p:sp>
        <p:nvSpPr>
          <p:cNvPr id="5" name="Footer Placeholder 4">
            <a:extLst>
              <a:ext uri="{FF2B5EF4-FFF2-40B4-BE49-F238E27FC236}">
                <a16:creationId xmlns:a16="http://schemas.microsoft.com/office/drawing/2014/main" id="{0EAE3325-7001-9FEC-47AB-A409E0F373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D7AEF9-381F-2BCD-EC62-3B7274D296D8}"/>
              </a:ext>
            </a:extLst>
          </p:cNvPr>
          <p:cNvSpPr>
            <a:spLocks noGrp="1"/>
          </p:cNvSpPr>
          <p:nvPr>
            <p:ph type="sldNum" sz="quarter" idx="12"/>
          </p:nvPr>
        </p:nvSpPr>
        <p:spPr/>
        <p:txBody>
          <a:bodyPr/>
          <a:lstStyle/>
          <a:p>
            <a:fld id="{70E8C43B-87D4-477A-A141-02B5EF93BB25}" type="slidenum">
              <a:rPr lang="en-IN" smtClean="0"/>
              <a:t>‹#›</a:t>
            </a:fld>
            <a:endParaRPr lang="en-IN"/>
          </a:p>
        </p:txBody>
      </p:sp>
    </p:spTree>
    <p:extLst>
      <p:ext uri="{BB962C8B-B14F-4D97-AF65-F5344CB8AC3E}">
        <p14:creationId xmlns:p14="http://schemas.microsoft.com/office/powerpoint/2010/main" val="14685196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579121-F883-3E40-5C9D-C18ED891A22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D1955C4-361D-7E8C-00EA-6C5E2A6D4F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F0A30B-FBE5-EA43-0892-13D96F984C13}"/>
              </a:ext>
            </a:extLst>
          </p:cNvPr>
          <p:cNvSpPr>
            <a:spLocks noGrp="1"/>
          </p:cNvSpPr>
          <p:nvPr>
            <p:ph type="dt" sz="half" idx="10"/>
          </p:nvPr>
        </p:nvSpPr>
        <p:spPr/>
        <p:txBody>
          <a:bodyPr/>
          <a:lstStyle/>
          <a:p>
            <a:fld id="{0EAF6836-02DC-460C-A47B-4412E76F3FA3}" type="datetimeFigureOut">
              <a:rPr lang="en-IN" smtClean="0"/>
              <a:t>22-06-2024</a:t>
            </a:fld>
            <a:endParaRPr lang="en-IN"/>
          </a:p>
        </p:txBody>
      </p:sp>
      <p:sp>
        <p:nvSpPr>
          <p:cNvPr id="5" name="Footer Placeholder 4">
            <a:extLst>
              <a:ext uri="{FF2B5EF4-FFF2-40B4-BE49-F238E27FC236}">
                <a16:creationId xmlns:a16="http://schemas.microsoft.com/office/drawing/2014/main" id="{A1860383-71C2-6BF2-E84E-44C429E598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C8086A-6DCD-A02B-19EC-CB8CFDA5C2B3}"/>
              </a:ext>
            </a:extLst>
          </p:cNvPr>
          <p:cNvSpPr>
            <a:spLocks noGrp="1"/>
          </p:cNvSpPr>
          <p:nvPr>
            <p:ph type="sldNum" sz="quarter" idx="12"/>
          </p:nvPr>
        </p:nvSpPr>
        <p:spPr/>
        <p:txBody>
          <a:bodyPr/>
          <a:lstStyle/>
          <a:p>
            <a:fld id="{70E8C43B-87D4-477A-A141-02B5EF93BB25}" type="slidenum">
              <a:rPr lang="en-IN" smtClean="0"/>
              <a:t>‹#›</a:t>
            </a:fld>
            <a:endParaRPr lang="en-IN"/>
          </a:p>
        </p:txBody>
      </p:sp>
    </p:spTree>
    <p:extLst>
      <p:ext uri="{BB962C8B-B14F-4D97-AF65-F5344CB8AC3E}">
        <p14:creationId xmlns:p14="http://schemas.microsoft.com/office/powerpoint/2010/main" val="3136316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ED6F49-D234-DF3B-72B4-69E9CAE919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86AC2E4-324F-335E-29E3-D668730587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DCBE53-DF72-BA73-0F39-E6BF220F5D6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AF6836-02DC-460C-A47B-4412E76F3FA3}" type="datetimeFigureOut">
              <a:rPr lang="en-IN" smtClean="0"/>
              <a:t>22-06-2024</a:t>
            </a:fld>
            <a:endParaRPr lang="en-IN"/>
          </a:p>
        </p:txBody>
      </p:sp>
      <p:sp>
        <p:nvSpPr>
          <p:cNvPr id="5" name="Footer Placeholder 4">
            <a:extLst>
              <a:ext uri="{FF2B5EF4-FFF2-40B4-BE49-F238E27FC236}">
                <a16:creationId xmlns:a16="http://schemas.microsoft.com/office/drawing/2014/main" id="{7DCAED7A-23D7-1FE3-D9D2-F55A23A864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01CD7C3-66D5-BC9B-16A8-58F3778A06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E8C43B-87D4-477A-A141-02B5EF93BB25}" type="slidenum">
              <a:rPr lang="en-IN" smtClean="0"/>
              <a:t>‹#›</a:t>
            </a:fld>
            <a:endParaRPr lang="en-IN"/>
          </a:p>
        </p:txBody>
      </p:sp>
    </p:spTree>
    <p:extLst>
      <p:ext uri="{BB962C8B-B14F-4D97-AF65-F5344CB8AC3E}">
        <p14:creationId xmlns:p14="http://schemas.microsoft.com/office/powerpoint/2010/main" val="32234472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086B2A9-6EDA-660D-7C6E-5D20A21E6E8D}"/>
              </a:ext>
            </a:extLst>
          </p:cNvPr>
          <p:cNvSpPr txBox="1"/>
          <p:nvPr/>
        </p:nvSpPr>
        <p:spPr>
          <a:xfrm>
            <a:off x="3788229" y="90915"/>
            <a:ext cx="6392906" cy="1046440"/>
          </a:xfrm>
          <a:prstGeom prst="rect">
            <a:avLst/>
          </a:prstGeom>
          <a:noFill/>
        </p:spPr>
        <p:txBody>
          <a:bodyPr wrap="square" rtlCol="0">
            <a:spAutoFit/>
          </a:bodyPr>
          <a:lstStyle/>
          <a:p>
            <a:r>
              <a:rPr lang="en-US" sz="4400" b="1" dirty="0">
                <a:latin typeface="Footlight MT Light" panose="0204060206030A020304" pitchFamily="18" charset="0"/>
              </a:rPr>
              <a:t>Real Time Project</a:t>
            </a:r>
          </a:p>
          <a:p>
            <a:endParaRPr lang="en-IN" dirty="0"/>
          </a:p>
        </p:txBody>
      </p:sp>
      <p:sp>
        <p:nvSpPr>
          <p:cNvPr id="7" name="TextBox 6">
            <a:extLst>
              <a:ext uri="{FF2B5EF4-FFF2-40B4-BE49-F238E27FC236}">
                <a16:creationId xmlns:a16="http://schemas.microsoft.com/office/drawing/2014/main" id="{BDFEC07B-1C6E-8F92-A86D-D2521E7ED3E7}"/>
              </a:ext>
            </a:extLst>
          </p:cNvPr>
          <p:cNvSpPr txBox="1"/>
          <p:nvPr/>
        </p:nvSpPr>
        <p:spPr>
          <a:xfrm>
            <a:off x="9650363" y="55946"/>
            <a:ext cx="2453146" cy="738664"/>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Date:-03-05-2024</a:t>
            </a:r>
          </a:p>
          <a:p>
            <a:endParaRPr lang="en-IN" dirty="0"/>
          </a:p>
        </p:txBody>
      </p:sp>
      <p:sp>
        <p:nvSpPr>
          <p:cNvPr id="8" name="TextBox 7">
            <a:extLst>
              <a:ext uri="{FF2B5EF4-FFF2-40B4-BE49-F238E27FC236}">
                <a16:creationId xmlns:a16="http://schemas.microsoft.com/office/drawing/2014/main" id="{EDDD45A9-5BC8-3FB7-C967-89165EC12329}"/>
              </a:ext>
            </a:extLst>
          </p:cNvPr>
          <p:cNvSpPr txBox="1"/>
          <p:nvPr/>
        </p:nvSpPr>
        <p:spPr>
          <a:xfrm>
            <a:off x="1725029" y="963248"/>
            <a:ext cx="8922936" cy="1938992"/>
          </a:xfrm>
          <a:prstGeom prst="rect">
            <a:avLst/>
          </a:prstGeom>
          <a:noFill/>
        </p:spPr>
        <p:txBody>
          <a:bodyPr wrap="square" rtlCol="0">
            <a:spAutoFit/>
          </a:bodyPr>
          <a:lstStyle/>
          <a:p>
            <a:pPr algn="ctr"/>
            <a:r>
              <a:rPr lang="en-US" sz="4000" b="1" dirty="0">
                <a:solidFill>
                  <a:srgbClr val="C00000"/>
                </a:solidFill>
                <a:latin typeface="Times New Roman" panose="02020603050405020304" pitchFamily="18" charset="0"/>
                <a:cs typeface="Times New Roman" panose="02020603050405020304" pitchFamily="18" charset="0"/>
              </a:rPr>
              <a:t>RFID AND FINGERPRINT BASED EXAMINATION ROOM IDENTIFICATION </a:t>
            </a:r>
          </a:p>
        </p:txBody>
      </p:sp>
      <p:pic>
        <p:nvPicPr>
          <p:cNvPr id="9" name="Picture 2" descr="CMR Technical Campus">
            <a:extLst>
              <a:ext uri="{FF2B5EF4-FFF2-40B4-BE49-F238E27FC236}">
                <a16:creationId xmlns:a16="http://schemas.microsoft.com/office/drawing/2014/main" id="{E0E0000C-0892-4892-0B9C-259831B2FC48}"/>
              </a:ext>
            </a:extLst>
          </p:cNvPr>
          <p:cNvPicPr>
            <a:picLocks noChangeAspect="1" noChangeArrowheads="1"/>
          </p:cNvPicPr>
          <p:nvPr/>
        </p:nvPicPr>
        <p:blipFill>
          <a:blip r:embed="rId2"/>
          <a:srcRect/>
          <a:stretch>
            <a:fillRect/>
          </a:stretch>
        </p:blipFill>
        <p:spPr bwMode="auto">
          <a:xfrm>
            <a:off x="4570001" y="2701334"/>
            <a:ext cx="2523867" cy="1990549"/>
          </a:xfrm>
          <a:prstGeom prst="rect">
            <a:avLst/>
          </a:prstGeom>
          <a:ln>
            <a:noFill/>
          </a:ln>
          <a:effectLst>
            <a:softEdge rad="112500"/>
          </a:effectLst>
        </p:spPr>
      </p:pic>
      <p:sp>
        <p:nvSpPr>
          <p:cNvPr id="10" name="TextBox 9">
            <a:extLst>
              <a:ext uri="{FF2B5EF4-FFF2-40B4-BE49-F238E27FC236}">
                <a16:creationId xmlns:a16="http://schemas.microsoft.com/office/drawing/2014/main" id="{41314459-CECC-3A9A-5A5F-F5E3A97EDFD9}"/>
              </a:ext>
            </a:extLst>
          </p:cNvPr>
          <p:cNvSpPr txBox="1"/>
          <p:nvPr/>
        </p:nvSpPr>
        <p:spPr>
          <a:xfrm>
            <a:off x="306453" y="3436155"/>
            <a:ext cx="4058816" cy="2511457"/>
          </a:xfrm>
          <a:prstGeom prst="rect">
            <a:avLst/>
          </a:prstGeom>
          <a:noFill/>
        </p:spPr>
        <p:txBody>
          <a:bodyPr wrap="square" rtlCol="0">
            <a:sp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1"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Under The Guidance of </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1"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Dr.S</a:t>
            </a:r>
            <a:r>
              <a:rPr lang="en-US" sz="2400" b="1" dirty="0" err="1">
                <a:latin typeface="Times New Roman" pitchFamily="18" charset="0"/>
                <a:cs typeface="Times New Roman" pitchFamily="18" charset="0"/>
              </a:rPr>
              <a:t>udha</a:t>
            </a:r>
            <a:r>
              <a:rPr lang="en-US" sz="2400" b="1" dirty="0">
                <a:latin typeface="Times New Roman" pitchFamily="18" charset="0"/>
                <a:cs typeface="Times New Roman" pitchFamily="18" charset="0"/>
              </a:rPr>
              <a:t> Chandrika</a:t>
            </a:r>
          </a:p>
          <a:p>
            <a:pPr algn="ctr">
              <a:spcBef>
                <a:spcPct val="20000"/>
              </a:spcBef>
              <a:defRPr/>
            </a:pPr>
            <a:r>
              <a:rPr kumimoji="0" lang="en-US" sz="2400" b="1"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Associate Professor</a:t>
            </a:r>
          </a:p>
          <a:p>
            <a:pPr algn="ctr">
              <a:spcBef>
                <a:spcPct val="20000"/>
              </a:spcBef>
              <a:defRPr/>
            </a:pPr>
            <a:endParaRPr lang="en-US" sz="2400" b="1" dirty="0">
              <a:solidFill>
                <a:schemeClr val="tx1"/>
              </a:solidFill>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400" b="1"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a:p>
            <a:endParaRPr lang="en-IN" dirty="0"/>
          </a:p>
        </p:txBody>
      </p:sp>
      <p:sp>
        <p:nvSpPr>
          <p:cNvPr id="11" name="TextBox 10">
            <a:extLst>
              <a:ext uri="{FF2B5EF4-FFF2-40B4-BE49-F238E27FC236}">
                <a16:creationId xmlns:a16="http://schemas.microsoft.com/office/drawing/2014/main" id="{04AEF19E-42C0-BD6B-E1C2-360471E179E9}"/>
              </a:ext>
            </a:extLst>
          </p:cNvPr>
          <p:cNvSpPr txBox="1"/>
          <p:nvPr/>
        </p:nvSpPr>
        <p:spPr>
          <a:xfrm>
            <a:off x="718452" y="5232940"/>
            <a:ext cx="3234818" cy="1625060"/>
          </a:xfrm>
          <a:prstGeom prst="rect">
            <a:avLst/>
          </a:prstGeom>
          <a:noFill/>
        </p:spPr>
        <p:txBody>
          <a:bodyPr wrap="square" rtlCol="0">
            <a:sp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1"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Project Coordinator</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1"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Dr.K.Bharath Kumar</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1"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Associate Professor</a:t>
            </a:r>
          </a:p>
          <a:p>
            <a:endParaRPr lang="en-IN" dirty="0"/>
          </a:p>
        </p:txBody>
      </p:sp>
      <p:sp>
        <p:nvSpPr>
          <p:cNvPr id="12" name="TextBox 11">
            <a:extLst>
              <a:ext uri="{FF2B5EF4-FFF2-40B4-BE49-F238E27FC236}">
                <a16:creationId xmlns:a16="http://schemas.microsoft.com/office/drawing/2014/main" id="{06A09CA5-B11D-E581-4D48-5C63BBA7261A}"/>
              </a:ext>
            </a:extLst>
          </p:cNvPr>
          <p:cNvSpPr txBox="1"/>
          <p:nvPr/>
        </p:nvSpPr>
        <p:spPr>
          <a:xfrm>
            <a:off x="6823588" y="4481666"/>
            <a:ext cx="5653549" cy="2215991"/>
          </a:xfrm>
          <a:prstGeom prst="rect">
            <a:avLst/>
          </a:prstGeom>
          <a:noFill/>
        </p:spPr>
        <p:txBody>
          <a:bodyPr wrap="square" rtlCol="0">
            <a:spAutoFit/>
          </a:bodyPr>
          <a:lstStyle/>
          <a:p>
            <a:pPr algn="l"/>
            <a:r>
              <a:rPr lang="en-US" sz="2400" b="1" dirty="0">
                <a:solidFill>
                  <a:schemeClr val="tx1"/>
                </a:solidFill>
                <a:latin typeface="Times New Roman" pitchFamily="18" charset="0"/>
                <a:cs typeface="Times New Roman" pitchFamily="18" charset="0"/>
              </a:rPr>
              <a:t>Batch  No : 05</a:t>
            </a:r>
          </a:p>
          <a:p>
            <a:pPr algn="l"/>
            <a:r>
              <a:rPr lang="en-US" sz="2400" b="1" dirty="0">
                <a:solidFill>
                  <a:schemeClr val="tx1"/>
                </a:solidFill>
                <a:latin typeface="Times New Roman" pitchFamily="18" charset="0"/>
                <a:cs typeface="Times New Roman" pitchFamily="18" charset="0"/>
              </a:rPr>
              <a:t>1] G.Susmitha               (227R1A0481)</a:t>
            </a:r>
          </a:p>
          <a:p>
            <a:pPr algn="l"/>
            <a:r>
              <a:rPr lang="en-US" sz="2400" b="1" dirty="0">
                <a:solidFill>
                  <a:schemeClr val="tx1"/>
                </a:solidFill>
                <a:latin typeface="Times New Roman" pitchFamily="18" charset="0"/>
                <a:cs typeface="Times New Roman" pitchFamily="18" charset="0"/>
              </a:rPr>
              <a:t>2] K.Dhanunjay            (227R1A0485)</a:t>
            </a:r>
          </a:p>
          <a:p>
            <a:pPr algn="l"/>
            <a:r>
              <a:rPr lang="en-US" sz="2400" b="1" dirty="0">
                <a:solidFill>
                  <a:schemeClr val="tx1"/>
                </a:solidFill>
                <a:latin typeface="Times New Roman" pitchFamily="18" charset="0"/>
                <a:cs typeface="Times New Roman" pitchFamily="18" charset="0"/>
              </a:rPr>
              <a:t>3] J.Dhanush                 (227R1A0469)</a:t>
            </a:r>
          </a:p>
          <a:p>
            <a:pPr algn="l"/>
            <a:r>
              <a:rPr lang="en-US" sz="2400" b="1" dirty="0">
                <a:solidFill>
                  <a:schemeClr val="tx1"/>
                </a:solidFill>
                <a:latin typeface="Times New Roman" pitchFamily="18" charset="0"/>
                <a:cs typeface="Times New Roman" pitchFamily="18" charset="0"/>
              </a:rPr>
              <a:t>4] T.Kiran Chaithanya (227R1A04</a:t>
            </a:r>
            <a:r>
              <a:rPr lang="en-US" sz="2400" b="1" dirty="0">
                <a:latin typeface="Times New Roman" pitchFamily="18" charset="0"/>
                <a:cs typeface="Times New Roman" pitchFamily="18" charset="0"/>
              </a:rPr>
              <a:t>B9)</a:t>
            </a:r>
            <a:endParaRPr lang="en-US" sz="2400" b="1" dirty="0">
              <a:solidFill>
                <a:schemeClr val="tx1"/>
              </a:solidFill>
              <a:latin typeface="Times New Roman" pitchFamily="18" charset="0"/>
              <a:cs typeface="Times New Roman" pitchFamily="18" charset="0"/>
            </a:endParaRPr>
          </a:p>
          <a:p>
            <a:endParaRPr lang="en-IN" dirty="0"/>
          </a:p>
        </p:txBody>
      </p:sp>
      <p:sp>
        <p:nvSpPr>
          <p:cNvPr id="2" name="TextBox 1">
            <a:extLst>
              <a:ext uri="{FF2B5EF4-FFF2-40B4-BE49-F238E27FC236}">
                <a16:creationId xmlns:a16="http://schemas.microsoft.com/office/drawing/2014/main" id="{F3180438-3E3A-D655-6118-A778A431788F}"/>
              </a:ext>
            </a:extLst>
          </p:cNvPr>
          <p:cNvSpPr txBox="1"/>
          <p:nvPr/>
        </p:nvSpPr>
        <p:spPr>
          <a:xfrm>
            <a:off x="246507" y="277565"/>
            <a:ext cx="2385997" cy="400110"/>
          </a:xfrm>
          <a:prstGeom prst="rect">
            <a:avLst/>
          </a:prstGeom>
          <a:noFill/>
        </p:spPr>
        <p:txBody>
          <a:bodyPr wrap="square" rtlCol="0">
            <a:spAutoFit/>
          </a:bodyPr>
          <a:lstStyle/>
          <a:p>
            <a:r>
              <a:rPr lang="en-IN" sz="2000" b="1" dirty="0"/>
              <a:t>Frist Review on </a:t>
            </a:r>
          </a:p>
        </p:txBody>
      </p:sp>
    </p:spTree>
    <p:extLst>
      <p:ext uri="{BB962C8B-B14F-4D97-AF65-F5344CB8AC3E}">
        <p14:creationId xmlns:p14="http://schemas.microsoft.com/office/powerpoint/2010/main" val="3765354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EDE3AC7-FA94-E956-F11A-12B64C509A26}"/>
              </a:ext>
            </a:extLst>
          </p:cNvPr>
          <p:cNvSpPr txBox="1"/>
          <p:nvPr/>
        </p:nvSpPr>
        <p:spPr>
          <a:xfrm>
            <a:off x="904567" y="1281089"/>
            <a:ext cx="6508955" cy="5576911"/>
          </a:xfrm>
          <a:prstGeom prst="rect">
            <a:avLst/>
          </a:prstGeom>
          <a:noFill/>
        </p:spPr>
        <p:txBody>
          <a:bodyPr wrap="square" rtlCol="0">
            <a:spAutoFit/>
          </a:bodyPr>
          <a:lstStyle/>
          <a:p>
            <a:pPr marL="342900" lvl="0" indent="-342900">
              <a:spcBef>
                <a:spcPct val="20000"/>
              </a:spcBef>
              <a:buClr>
                <a:schemeClr val="accent1"/>
              </a:buClr>
              <a:buSzPct val="70000"/>
              <a:buFont typeface="Wingdings" pitchFamily="2" charset="2"/>
              <a:buChar char="Ø"/>
              <a:defRPr/>
            </a:pPr>
            <a:r>
              <a:rPr lang="en-IN" sz="3600" dirty="0">
                <a:latin typeface="Times New Roman" panose="02020603050405020304" pitchFamily="18" charset="0"/>
                <a:cs typeface="Times New Roman" pitchFamily="18" charset="0"/>
              </a:rPr>
              <a:t>Abstract</a:t>
            </a:r>
            <a:endParaRPr lang="en-US" sz="3600" dirty="0">
              <a:latin typeface="Times New Roman" panose="02020603050405020304" pitchFamily="18" charset="0"/>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pitchFamily="2" charset="2"/>
              <a:buChar char="Ø"/>
              <a:tabLst/>
              <a:defRPr/>
            </a:pPr>
            <a:r>
              <a:rPr kumimoji="0" lang="en-US" sz="3600" b="0" i="0" u="none" strike="noStrike" kern="1200" cap="none" spc="0" normalizeH="0" baseline="0" noProof="0" dirty="0">
                <a:ln>
                  <a:noFill/>
                </a:ln>
                <a:effectLst/>
                <a:uLnTx/>
                <a:uFillTx/>
                <a:latin typeface="Times New Roman" pitchFamily="18" charset="0"/>
                <a:cs typeface="Times New Roman" pitchFamily="18" charset="0"/>
              </a:rPr>
              <a:t>Introduction </a:t>
            </a: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pitchFamily="2" charset="2"/>
              <a:buChar char="Ø"/>
              <a:tabLst/>
              <a:defRPr/>
            </a:pPr>
            <a:r>
              <a:rPr kumimoji="0" lang="en-US" sz="3600" b="0" i="0" u="none" strike="noStrike" kern="1200" cap="none" spc="0" normalizeH="0" baseline="0" noProof="0" dirty="0">
                <a:ln>
                  <a:noFill/>
                </a:ln>
                <a:effectLst/>
                <a:uLnTx/>
                <a:uFillTx/>
                <a:latin typeface="Times New Roman" pitchFamily="18" charset="0"/>
                <a:cs typeface="Times New Roman" pitchFamily="18" charset="0"/>
              </a:rPr>
              <a:t>Literature survey</a:t>
            </a:r>
          </a:p>
          <a:p>
            <a:pPr marL="342900" lvl="0" indent="-342900">
              <a:spcBef>
                <a:spcPct val="20000"/>
              </a:spcBef>
              <a:buClr>
                <a:schemeClr val="accent1"/>
              </a:buClr>
              <a:buSzPct val="70000"/>
              <a:buFont typeface="Wingdings" pitchFamily="2" charset="2"/>
              <a:buChar char="Ø"/>
              <a:defRPr/>
            </a:pPr>
            <a:r>
              <a:rPr lang="en-IN" sz="3600" dirty="0">
                <a:latin typeface="Times New Roman" pitchFamily="18" charset="0"/>
                <a:cs typeface="Times New Roman" pitchFamily="18" charset="0"/>
              </a:rPr>
              <a:t>Problem statement</a:t>
            </a:r>
          </a:p>
          <a:p>
            <a:pPr marL="342900" lvl="0" indent="-342900">
              <a:spcBef>
                <a:spcPct val="20000"/>
              </a:spcBef>
              <a:buClr>
                <a:schemeClr val="accent1"/>
              </a:buClr>
              <a:buSzPct val="70000"/>
              <a:buFont typeface="Wingdings" pitchFamily="2" charset="2"/>
              <a:buChar char="Ø"/>
              <a:defRPr/>
            </a:pPr>
            <a:r>
              <a:rPr lang="en-IN" sz="3600" dirty="0">
                <a:latin typeface="Times New Roman" pitchFamily="18" charset="0"/>
                <a:cs typeface="Times New Roman" pitchFamily="18" charset="0"/>
              </a:rPr>
              <a:t>Problem Methodology</a:t>
            </a:r>
          </a:p>
          <a:p>
            <a:pPr marL="342900" lvl="0" indent="-342900">
              <a:spcBef>
                <a:spcPct val="20000"/>
              </a:spcBef>
              <a:buClr>
                <a:schemeClr val="accent1"/>
              </a:buClr>
              <a:buSzPct val="70000"/>
              <a:buFont typeface="Wingdings" pitchFamily="2" charset="2"/>
              <a:buChar char="Ø"/>
              <a:defRPr/>
            </a:pPr>
            <a:r>
              <a:rPr lang="en-IN" sz="3600" dirty="0">
                <a:latin typeface="Times New Roman" pitchFamily="18" charset="0"/>
                <a:cs typeface="Times New Roman" pitchFamily="18" charset="0"/>
              </a:rPr>
              <a:t>Requirements</a:t>
            </a: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pitchFamily="2" charset="2"/>
              <a:buChar char="Ø"/>
              <a:tabLst/>
              <a:defRPr/>
            </a:pPr>
            <a:r>
              <a:rPr kumimoji="0" lang="en-US" sz="3600" b="0" i="0" u="none" strike="noStrike" kern="1200" cap="none" spc="0" normalizeH="0" baseline="0" noProof="0" dirty="0">
                <a:ln>
                  <a:noFill/>
                </a:ln>
                <a:effectLst/>
                <a:uLnTx/>
                <a:uFillTx/>
                <a:latin typeface="Times New Roman" panose="02020603050405020304" pitchFamily="18" charset="0"/>
                <a:cs typeface="Times New Roman" pitchFamily="18" charset="0"/>
              </a:rPr>
              <a:t>References</a:t>
            </a: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pitchFamily="2" charset="2"/>
              <a:buChar char="Ø"/>
              <a:tabLst/>
              <a:defRPr/>
            </a:pPr>
            <a:r>
              <a:rPr lang="en-US" sz="3600" dirty="0">
                <a:latin typeface="Times New Roman" panose="02020603050405020304" pitchFamily="18" charset="0"/>
                <a:cs typeface="Times New Roman" pitchFamily="18" charset="0"/>
              </a:rPr>
              <a:t>Result</a:t>
            </a:r>
            <a:endParaRPr kumimoji="0" lang="en-US" sz="3600" b="0" i="0" u="none" strike="noStrike" kern="1200" cap="none" spc="0" normalizeH="0" baseline="0" noProof="0" dirty="0">
              <a:ln>
                <a:noFill/>
              </a:ln>
              <a:effectLst/>
              <a:uLnTx/>
              <a:uFillTx/>
              <a:latin typeface="Times New Roman" panose="02020603050405020304" pitchFamily="18" charset="0"/>
              <a:cs typeface="Times New Roman" pitchFamily="18" charset="0"/>
            </a:endParaRPr>
          </a:p>
          <a:p>
            <a:endParaRPr lang="en-IN"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0CE9053-3543-8F0D-D2D0-46586857D920}"/>
              </a:ext>
            </a:extLst>
          </p:cNvPr>
          <p:cNvSpPr txBox="1"/>
          <p:nvPr/>
        </p:nvSpPr>
        <p:spPr>
          <a:xfrm>
            <a:off x="904567" y="403123"/>
            <a:ext cx="4621161" cy="769441"/>
          </a:xfrm>
          <a:prstGeom prst="rect">
            <a:avLst/>
          </a:prstGeom>
          <a:noFill/>
        </p:spPr>
        <p:txBody>
          <a:bodyPr wrap="square" rtlCol="0">
            <a:spAutoFit/>
          </a:bodyPr>
          <a:lstStyle/>
          <a:p>
            <a:r>
              <a:rPr lang="en-IN" sz="4400" b="1" dirty="0">
                <a:solidFill>
                  <a:srgbClr val="C00000"/>
                </a:solidFill>
                <a:latin typeface="Times New Roman" panose="02020603050405020304" pitchFamily="18" charset="0"/>
                <a:cs typeface="Times New Roman" panose="02020603050405020304" pitchFamily="18" charset="0"/>
              </a:rPr>
              <a:t>CONTENTS :</a:t>
            </a:r>
          </a:p>
        </p:txBody>
      </p:sp>
    </p:spTree>
    <p:extLst>
      <p:ext uri="{BB962C8B-B14F-4D97-AF65-F5344CB8AC3E}">
        <p14:creationId xmlns:p14="http://schemas.microsoft.com/office/powerpoint/2010/main" val="10385835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B4E58E-7E52-EDFA-D133-BC6AA77F68F2}"/>
              </a:ext>
            </a:extLst>
          </p:cNvPr>
          <p:cNvSpPr txBox="1"/>
          <p:nvPr/>
        </p:nvSpPr>
        <p:spPr>
          <a:xfrm>
            <a:off x="814091" y="188201"/>
            <a:ext cx="4468495" cy="769441"/>
          </a:xfrm>
          <a:prstGeom prst="rect">
            <a:avLst/>
          </a:prstGeom>
          <a:noFill/>
        </p:spPr>
        <p:txBody>
          <a:bodyPr wrap="square" rtlCol="0">
            <a:spAutoFit/>
          </a:bodyPr>
          <a:lstStyle/>
          <a:p>
            <a:r>
              <a:rPr lang="en-IN" sz="4400" b="1" dirty="0">
                <a:solidFill>
                  <a:srgbClr val="C00000"/>
                </a:solidFill>
                <a:latin typeface="Times New Roman" panose="02020603050405020304" pitchFamily="18" charset="0"/>
                <a:cs typeface="Times New Roman" panose="02020603050405020304" pitchFamily="18" charset="0"/>
              </a:rPr>
              <a:t>ABSTRACT:</a:t>
            </a:r>
            <a:endParaRPr lang="en-IN" sz="4400" b="1" u="sng" dirty="0">
              <a:solidFill>
                <a:srgbClr val="C0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C8BC8F6-C6CE-A084-F43E-D4ECC74A5A54}"/>
              </a:ext>
            </a:extLst>
          </p:cNvPr>
          <p:cNvSpPr txBox="1"/>
          <p:nvPr/>
        </p:nvSpPr>
        <p:spPr>
          <a:xfrm>
            <a:off x="392347" y="1072024"/>
            <a:ext cx="11149780" cy="5663089"/>
          </a:xfrm>
          <a:prstGeom prst="rect">
            <a:avLst/>
          </a:prstGeom>
          <a:noFill/>
        </p:spPr>
        <p:txBody>
          <a:bodyPr wrap="square" rtlCol="0">
            <a:spAutoFit/>
          </a:bodyPr>
          <a:lstStyle/>
          <a:p>
            <a:pPr marL="45720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goal of this project is to provide guidance to students at examination centers.</a:t>
            </a:r>
          </a:p>
          <a:p>
            <a:pPr marL="45720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Many students are having difficulty finding rooms. Most students are worry while going to the examination, and they even feel tense while looking for their exam location. </a:t>
            </a:r>
          </a:p>
          <a:p>
            <a:pPr marL="45720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In these instances, our project is beneficial. As a hall ticket, each student will be given an RFID card.</a:t>
            </a:r>
          </a:p>
          <a:p>
            <a:pPr marL="45720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That will automatically display the room number of the student. Our project will primarily save time spent searching for a room in examination centers. </a:t>
            </a:r>
          </a:p>
          <a:p>
            <a:pPr marL="457200" indent="-457200" algn="just">
              <a:buFont typeface="Wingdings" panose="05000000000000000000" pitchFamily="2" charset="2"/>
              <a:buChar char="Ø"/>
            </a:pPr>
            <a:r>
              <a:rPr lang="en-US" sz="3600" b="1" i="1" dirty="0">
                <a:latin typeface="Times New Roman" panose="02020603050405020304" pitchFamily="18" charset="0"/>
                <a:cs typeface="Times New Roman" panose="02020603050405020304" pitchFamily="18" charset="0"/>
              </a:rPr>
              <a:t>Keywords: </a:t>
            </a:r>
            <a:r>
              <a:rPr lang="en-US" sz="2800" dirty="0">
                <a:latin typeface="Times New Roman" panose="02020603050405020304" pitchFamily="18" charset="0"/>
                <a:cs typeface="Times New Roman" panose="02020603050405020304" pitchFamily="18" charset="0"/>
              </a:rPr>
              <a:t>Arduino, Examination Room Guidance, RFID System, Fingerprint Module, Lcd Display. </a:t>
            </a:r>
            <a:endParaRPr lang="en-IN" sz="2800"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2064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42C56E7-F1DA-9BD1-C37D-CBD9EDB09346}"/>
              </a:ext>
            </a:extLst>
          </p:cNvPr>
          <p:cNvSpPr txBox="1"/>
          <p:nvPr/>
        </p:nvSpPr>
        <p:spPr>
          <a:xfrm>
            <a:off x="560439" y="339884"/>
            <a:ext cx="6096000" cy="707886"/>
          </a:xfrm>
          <a:prstGeom prst="rect">
            <a:avLst/>
          </a:prstGeom>
          <a:noFill/>
        </p:spPr>
        <p:txBody>
          <a:bodyPr wrap="square">
            <a:spAutoFit/>
          </a:bodyPr>
          <a:lstStyle/>
          <a:p>
            <a:r>
              <a:rPr lang="en-IN" sz="4000" b="1" dirty="0">
                <a:solidFill>
                  <a:srgbClr val="C00000"/>
                </a:solidFill>
                <a:latin typeface="Times New Roman" panose="02020603050405020304" pitchFamily="18" charset="0"/>
                <a:cs typeface="Times New Roman" panose="02020603050405020304" pitchFamily="18" charset="0"/>
              </a:rPr>
              <a:t>INTRODUCTION:</a:t>
            </a:r>
          </a:p>
        </p:txBody>
      </p:sp>
      <p:sp>
        <p:nvSpPr>
          <p:cNvPr id="4" name="TextBox 3">
            <a:extLst>
              <a:ext uri="{FF2B5EF4-FFF2-40B4-BE49-F238E27FC236}">
                <a16:creationId xmlns:a16="http://schemas.microsoft.com/office/drawing/2014/main" id="{8E3A9696-C24D-1955-4081-A6D5BE4A9D34}"/>
              </a:ext>
            </a:extLst>
          </p:cNvPr>
          <p:cNvSpPr txBox="1"/>
          <p:nvPr/>
        </p:nvSpPr>
        <p:spPr>
          <a:xfrm>
            <a:off x="323060" y="1351835"/>
            <a:ext cx="11415252" cy="4524315"/>
          </a:xfrm>
          <a:prstGeom prst="rect">
            <a:avLst/>
          </a:prstGeom>
          <a:noFill/>
        </p:spPr>
        <p:txBody>
          <a:bodyPr wrap="square" rtlCol="0">
            <a:spAutoFit/>
          </a:bodyPr>
          <a:lstStyle/>
          <a:p>
            <a:pPr marL="457200" indent="-457200" algn="just">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RFID (Radio Frequency Identification) technology is a new technology that is being used in a various application.</a:t>
            </a:r>
          </a:p>
          <a:p>
            <a:pPr marL="457200" indent="-457200" algn="just">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 RFID is made up of two major components. The Interrogator (RFID Reader) sends and receives the signal, as well as the Transponder (tag) attached to the object. </a:t>
            </a:r>
          </a:p>
          <a:p>
            <a:pPr marL="457200" indent="-457200" algn="just">
              <a:buFont typeface="Wingdings" panose="05000000000000000000" pitchFamily="2" charset="2"/>
              <a:buChar char="Ø"/>
            </a:pPr>
            <a:r>
              <a:rPr lang="en-US" sz="3200" b="1" dirty="0">
                <a:latin typeface="Times New Roman" panose="02020603050405020304" pitchFamily="18" charset="0"/>
                <a:cs typeface="Times New Roman" panose="02020603050405020304" pitchFamily="18" charset="0"/>
              </a:rPr>
              <a:t>Improvements in RFID technology: </a:t>
            </a:r>
            <a:r>
              <a:rPr lang="en-US" sz="3200" dirty="0">
                <a:latin typeface="Times New Roman" panose="02020603050405020304" pitchFamily="18" charset="0"/>
                <a:cs typeface="Times New Roman" panose="02020603050405020304" pitchFamily="18" charset="0"/>
              </a:rPr>
              <a:t>memory capacities, reading ranges, and processing speeds continue to improve. </a:t>
            </a:r>
          </a:p>
          <a:p>
            <a:pPr marL="457200" indent="-457200" algn="just">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The integrated circuit in an RF tag will never be as cost effective as a bar code label</a:t>
            </a:r>
          </a:p>
        </p:txBody>
      </p:sp>
    </p:spTree>
    <p:extLst>
      <p:ext uri="{BB962C8B-B14F-4D97-AF65-F5344CB8AC3E}">
        <p14:creationId xmlns:p14="http://schemas.microsoft.com/office/powerpoint/2010/main" val="1040579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50F0E2-B202-BDB3-7A30-3E94AF7C2BDC}"/>
              </a:ext>
            </a:extLst>
          </p:cNvPr>
          <p:cNvSpPr txBox="1"/>
          <p:nvPr/>
        </p:nvSpPr>
        <p:spPr>
          <a:xfrm>
            <a:off x="252415" y="0"/>
            <a:ext cx="5264191" cy="769441"/>
          </a:xfrm>
          <a:prstGeom prst="rect">
            <a:avLst/>
          </a:prstGeom>
          <a:noFill/>
        </p:spPr>
        <p:txBody>
          <a:bodyPr wrap="square" rtlCol="0">
            <a:spAutoFit/>
          </a:bodyPr>
          <a:lstStyle/>
          <a:p>
            <a:r>
              <a:rPr lang="en-US" sz="4400" b="1" dirty="0">
                <a:solidFill>
                  <a:srgbClr val="C00000"/>
                </a:solidFill>
                <a:cs typeface="Times New Roman" pitchFamily="18" charset="0"/>
              </a:rPr>
              <a:t>Literature survey</a:t>
            </a:r>
            <a:r>
              <a:rPr lang="en-IN" sz="4400" b="1" dirty="0">
                <a:solidFill>
                  <a:srgbClr val="C00000"/>
                </a:solidFill>
                <a:cs typeface="Times New Roman" pitchFamily="18" charset="0"/>
              </a:rPr>
              <a:t>:-</a:t>
            </a:r>
          </a:p>
        </p:txBody>
      </p:sp>
      <p:graphicFrame>
        <p:nvGraphicFramePr>
          <p:cNvPr id="4" name="Table 3">
            <a:extLst>
              <a:ext uri="{FF2B5EF4-FFF2-40B4-BE49-F238E27FC236}">
                <a16:creationId xmlns:a16="http://schemas.microsoft.com/office/drawing/2014/main" id="{B827FF79-8241-AAD9-87C5-588656CFCE44}"/>
              </a:ext>
            </a:extLst>
          </p:cNvPr>
          <p:cNvGraphicFramePr>
            <a:graphicFrameLocks noGrp="1"/>
          </p:cNvGraphicFramePr>
          <p:nvPr>
            <p:extLst>
              <p:ext uri="{D42A27DB-BD31-4B8C-83A1-F6EECF244321}">
                <p14:modId xmlns:p14="http://schemas.microsoft.com/office/powerpoint/2010/main" val="1559424119"/>
              </p:ext>
            </p:extLst>
          </p:nvPr>
        </p:nvGraphicFramePr>
        <p:xfrm>
          <a:off x="255281" y="872078"/>
          <a:ext cx="11681437" cy="5669280"/>
        </p:xfrm>
        <a:graphic>
          <a:graphicData uri="http://schemas.openxmlformats.org/drawingml/2006/table">
            <a:tbl>
              <a:tblPr firstRow="1" bandRow="1">
                <a:tableStyleId>{69CF1AB2-1976-4502-BF36-3FF5EA218861}</a:tableStyleId>
              </a:tblPr>
              <a:tblGrid>
                <a:gridCol w="922218">
                  <a:extLst>
                    <a:ext uri="{9D8B030D-6E8A-4147-A177-3AD203B41FA5}">
                      <a16:colId xmlns:a16="http://schemas.microsoft.com/office/drawing/2014/main" val="1404106589"/>
                    </a:ext>
                  </a:extLst>
                </a:gridCol>
                <a:gridCol w="1702274">
                  <a:extLst>
                    <a:ext uri="{9D8B030D-6E8A-4147-A177-3AD203B41FA5}">
                      <a16:colId xmlns:a16="http://schemas.microsoft.com/office/drawing/2014/main" val="124321604"/>
                    </a:ext>
                  </a:extLst>
                </a:gridCol>
                <a:gridCol w="1956776">
                  <a:extLst>
                    <a:ext uri="{9D8B030D-6E8A-4147-A177-3AD203B41FA5}">
                      <a16:colId xmlns:a16="http://schemas.microsoft.com/office/drawing/2014/main" val="483470745"/>
                    </a:ext>
                  </a:extLst>
                </a:gridCol>
                <a:gridCol w="1418894">
                  <a:extLst>
                    <a:ext uri="{9D8B030D-6E8A-4147-A177-3AD203B41FA5}">
                      <a16:colId xmlns:a16="http://schemas.microsoft.com/office/drawing/2014/main" val="3585438116"/>
                    </a:ext>
                  </a:extLst>
                </a:gridCol>
                <a:gridCol w="5681275">
                  <a:extLst>
                    <a:ext uri="{9D8B030D-6E8A-4147-A177-3AD203B41FA5}">
                      <a16:colId xmlns:a16="http://schemas.microsoft.com/office/drawing/2014/main" val="274421465"/>
                    </a:ext>
                  </a:extLst>
                </a:gridCol>
              </a:tblGrid>
              <a:tr h="541070">
                <a:tc>
                  <a:txBody>
                    <a:bodyPr/>
                    <a:lstStyle/>
                    <a:p>
                      <a:pPr algn="ctr"/>
                      <a:r>
                        <a:rPr lang="en-US" b="1" dirty="0">
                          <a:solidFill>
                            <a:schemeClr val="tx1"/>
                          </a:solidFill>
                          <a:latin typeface="Times New Roman" panose="02020603050405020304" pitchFamily="18" charset="0"/>
                          <a:cs typeface="Times New Roman" panose="02020603050405020304" pitchFamily="18" charset="0"/>
                        </a:rPr>
                        <a:t>S.NO</a:t>
                      </a:r>
                    </a:p>
                  </a:txBody>
                  <a:tcPr/>
                </a:tc>
                <a:tc>
                  <a:txBody>
                    <a:bodyPr/>
                    <a:lstStyle/>
                    <a:p>
                      <a:pPr algn="ctr"/>
                      <a:r>
                        <a:rPr lang="en-US" b="1" dirty="0">
                          <a:solidFill>
                            <a:schemeClr val="tx1"/>
                          </a:solidFill>
                          <a:latin typeface="Times New Roman" panose="02020603050405020304" pitchFamily="18" charset="0"/>
                          <a:cs typeface="Times New Roman" panose="02020603050405020304" pitchFamily="18" charset="0"/>
                        </a:rPr>
                        <a:t>Name of the authors</a:t>
                      </a:r>
                    </a:p>
                  </a:txBody>
                  <a:tcPr/>
                </a:tc>
                <a:tc>
                  <a:txBody>
                    <a:bodyPr/>
                    <a:lstStyle/>
                    <a:p>
                      <a:pPr algn="ctr"/>
                      <a:r>
                        <a:rPr lang="en-US" dirty="0">
                          <a:solidFill>
                            <a:schemeClr val="tx1"/>
                          </a:solidFill>
                          <a:latin typeface="Times New Roman" panose="02020603050405020304" pitchFamily="18" charset="0"/>
                          <a:cs typeface="Times New Roman" panose="02020603050405020304" pitchFamily="18" charset="0"/>
                        </a:rPr>
                        <a:t> Name of the </a:t>
                      </a:r>
                    </a:p>
                    <a:p>
                      <a:pPr algn="ctr"/>
                      <a:r>
                        <a:rPr lang="en-US" dirty="0">
                          <a:solidFill>
                            <a:schemeClr val="tx1"/>
                          </a:solidFill>
                          <a:latin typeface="Times New Roman" panose="02020603050405020304" pitchFamily="18" charset="0"/>
                          <a:cs typeface="Times New Roman" panose="02020603050405020304" pitchFamily="18" charset="0"/>
                        </a:rPr>
                        <a:t>journal</a:t>
                      </a:r>
                    </a:p>
                  </a:txBody>
                  <a:tcPr/>
                </a:tc>
                <a:tc>
                  <a:txBody>
                    <a:bodyPr/>
                    <a:lstStyle/>
                    <a:p>
                      <a:pPr algn="ctr"/>
                      <a:r>
                        <a:rPr lang="en-US" dirty="0">
                          <a:solidFill>
                            <a:schemeClr val="tx1"/>
                          </a:solidFill>
                          <a:latin typeface="Times New Roman" panose="02020603050405020304" pitchFamily="18" charset="0"/>
                          <a:cs typeface="Times New Roman" panose="02020603050405020304" pitchFamily="18" charset="0"/>
                        </a:rPr>
                        <a:t>Year of Publication</a:t>
                      </a:r>
                    </a:p>
                  </a:txBody>
                  <a:tcPr/>
                </a:tc>
                <a:tc>
                  <a:txBody>
                    <a:bodyPr/>
                    <a:lstStyle/>
                    <a:p>
                      <a:pPr algn="ctr"/>
                      <a:r>
                        <a:rPr lang="en-US" dirty="0">
                          <a:solidFill>
                            <a:schemeClr val="tx1"/>
                          </a:solidFill>
                          <a:latin typeface="Times New Roman" panose="02020603050405020304" pitchFamily="18" charset="0"/>
                          <a:cs typeface="Times New Roman" panose="02020603050405020304" pitchFamily="18" charset="0"/>
                        </a:rPr>
                        <a:t> explanation</a:t>
                      </a:r>
                    </a:p>
                    <a:p>
                      <a:pPr algn="ctr"/>
                      <a:r>
                        <a:rPr lang="en-US" dirty="0">
                          <a:solidFill>
                            <a:schemeClr val="tx1"/>
                          </a:solidFill>
                          <a:latin typeface="Times New Roman" panose="02020603050405020304" pitchFamily="18" charset="0"/>
                          <a:cs typeface="Times New Roman" panose="02020603050405020304" pitchFamily="18" charset="0"/>
                        </a:rPr>
                        <a:t>(Adv/Disadv)</a:t>
                      </a:r>
                    </a:p>
                  </a:txBody>
                  <a:tcPr/>
                </a:tc>
                <a:extLst>
                  <a:ext uri="{0D108BD9-81ED-4DB2-BD59-A6C34878D82A}">
                    <a16:rowId xmlns:a16="http://schemas.microsoft.com/office/drawing/2014/main" val="3515981917"/>
                  </a:ext>
                </a:extLst>
              </a:tr>
              <a:tr h="0">
                <a:tc>
                  <a:txBody>
                    <a:bodyPr/>
                    <a:lstStyle/>
                    <a:p>
                      <a:pPr algn="ctr"/>
                      <a:r>
                        <a:rPr lang="en-US" b="1" dirty="0">
                          <a:latin typeface="Times New Roman" panose="02020603050405020304" pitchFamily="18" charset="0"/>
                          <a:cs typeface="Times New Roman" panose="02020603050405020304" pitchFamily="18" charset="0"/>
                        </a:rPr>
                        <a:t>1</a:t>
                      </a:r>
                    </a:p>
                  </a:txBody>
                  <a:tcPr/>
                </a:tc>
                <a:tc>
                  <a:txBody>
                    <a:bodyPr/>
                    <a:lstStyle/>
                    <a:p>
                      <a:r>
                        <a:rPr lang="en-IN" sz="2000" dirty="0">
                          <a:latin typeface="Times New Roman" panose="02020603050405020304" pitchFamily="18" charset="0"/>
                          <a:cs typeface="Times New Roman" panose="02020603050405020304" pitchFamily="18" charset="0"/>
                        </a:rPr>
                        <a:t>C Vijaya</a:t>
                      </a:r>
                    </a:p>
                    <a:p>
                      <a:r>
                        <a:rPr lang="en-IN" sz="2000" dirty="0">
                          <a:latin typeface="Times New Roman" panose="02020603050405020304" pitchFamily="18" charset="0"/>
                          <a:cs typeface="Times New Roman" panose="02020603050405020304" pitchFamily="18" charset="0"/>
                        </a:rPr>
                        <a:t>Bhaskar1,</a:t>
                      </a:r>
                    </a:p>
                    <a:p>
                      <a:r>
                        <a:rPr lang="en-IN" sz="2000" dirty="0">
                          <a:latin typeface="Times New Roman" panose="02020603050405020304" pitchFamily="18" charset="0"/>
                          <a:cs typeface="Times New Roman" panose="02020603050405020304" pitchFamily="18" charset="0"/>
                        </a:rPr>
                        <a:t>P. Ruchita.</a:t>
                      </a:r>
                    </a:p>
                  </a:txBody>
                  <a:tcPr/>
                </a:tc>
                <a:tc>
                  <a:txBody>
                    <a:bodyPr/>
                    <a:lstStyle/>
                    <a:p>
                      <a:r>
                        <a:rPr lang="en-US" sz="2000" dirty="0">
                          <a:latin typeface="Times New Roman" panose="02020603050405020304" pitchFamily="18" charset="0"/>
                          <a:cs typeface="Times New Roman" panose="02020603050405020304" pitchFamily="18" charset="0"/>
                        </a:rPr>
                        <a:t>International Research Journal of Modernization in Engineering Technology and Science </a:t>
                      </a:r>
                    </a:p>
                  </a:txBody>
                  <a:tcPr/>
                </a:tc>
                <a:tc>
                  <a:txBody>
                    <a:bodyPr/>
                    <a:lstStyle/>
                    <a:p>
                      <a:r>
                        <a:rPr lang="en-US" sz="2000" dirty="0">
                          <a:latin typeface="Times New Roman" panose="02020603050405020304" pitchFamily="18" charset="0"/>
                          <a:cs typeface="Times New Roman" panose="02020603050405020304" pitchFamily="18" charset="0"/>
                        </a:rPr>
                        <a:t>May - 2022</a:t>
                      </a:r>
                    </a:p>
                  </a:txBody>
                  <a:tcPr/>
                </a:tc>
                <a:tc>
                  <a:txBody>
                    <a:bodyPr/>
                    <a:lstStyle/>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system  is designed to pass only uses by verifying their fingerprint module </a:t>
                      </a: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ID and the other personal details which where propely saved in database of the system and confirm the eligibility of candidate for examination  </a:t>
                      </a: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tag identification can not seen by our nacked eye</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lang="en-US" sz="2000" dirty="0">
                        <a:latin typeface="Times New Roman" panose="02020603050405020304" pitchFamily="18" charset="0"/>
                        <a:cs typeface="Times New Roman" panose="02020603050405020304" pitchFamily="18" charset="0"/>
                      </a:endParaRPr>
                    </a:p>
                    <a:p>
                      <a:pPr marL="0" indent="0">
                        <a:buFont typeface="Wingdings" panose="05000000000000000000" pitchFamily="2" charset="2"/>
                        <a:buNone/>
                      </a:pP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58254271"/>
                  </a:ext>
                </a:extLst>
              </a:tr>
              <a:tr h="1311901">
                <a:tc>
                  <a:txBody>
                    <a:bodyPr/>
                    <a:lstStyle/>
                    <a:p>
                      <a:pPr algn="ctr"/>
                      <a:r>
                        <a:rPr lang="en-US" b="1" dirty="0">
                          <a:latin typeface="Times New Roman" panose="02020603050405020304" pitchFamily="18" charset="0"/>
                          <a:cs typeface="Times New Roman" panose="02020603050405020304" pitchFamily="18" charset="0"/>
                        </a:rPr>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Z. yongqang.</a:t>
                      </a:r>
                      <a:endParaRPr lang="en-US"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International Conference on Communication Technology</a:t>
                      </a:r>
                      <a:endParaRPr lang="en-US" sz="20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 Nov - 2006</a:t>
                      </a:r>
                    </a:p>
                  </a:txBody>
                  <a:tcPr/>
                </a:tc>
                <a:tc>
                  <a:txBody>
                    <a:bodyPr/>
                    <a:lstStyle/>
                    <a:p>
                      <a:pPr marL="342900" indent="-342900">
                        <a:buFont typeface="Wingdings" panose="05000000000000000000" pitchFamily="2" charset="2"/>
                        <a:buChar char="Ø"/>
                      </a:pPr>
                      <a:r>
                        <a:rPr lang="en-US" sz="2000" b="0" i="0" kern="1200" dirty="0">
                          <a:solidFill>
                            <a:schemeClr val="dk1"/>
                          </a:solidFill>
                          <a:effectLst/>
                          <a:latin typeface="Times New Roman" panose="02020603050405020304" pitchFamily="18" charset="0"/>
                          <a:ea typeface="+mn-ea"/>
                          <a:cs typeface="Times New Roman" panose="02020603050405020304" pitchFamily="18" charset="0"/>
                        </a:rPr>
                        <a:t>A wireless fingerprint module based on the attendance system which uses the fingerprint module </a:t>
                      </a:r>
                    </a:p>
                    <a:p>
                      <a:pPr marL="342900" indent="-342900">
                        <a:buFont typeface="Wingdings" panose="05000000000000000000" pitchFamily="2" charset="2"/>
                        <a:buChar char="Ø"/>
                      </a:pPr>
                      <a:r>
                        <a:rPr lang="en-US" sz="2000" b="0" i="0" kern="1200" dirty="0">
                          <a:solidFill>
                            <a:schemeClr val="dk1"/>
                          </a:solidFill>
                          <a:effectLst/>
                          <a:latin typeface="Times New Roman" panose="02020603050405020304" pitchFamily="18" charset="0"/>
                          <a:ea typeface="+mn-ea"/>
                          <a:cs typeface="Times New Roman" panose="02020603050405020304" pitchFamily="18" charset="0"/>
                        </a:rPr>
                        <a:t>AR400 RFID and handled MC 9000-GRFID </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sz="2000" dirty="0">
                          <a:latin typeface="Times New Roman" panose="02020603050405020304" pitchFamily="18" charset="0"/>
                          <a:cs typeface="Times New Roman" panose="02020603050405020304" pitchFamily="18" charset="0"/>
                        </a:rPr>
                        <a:t>reduces human effort and error </a:t>
                      </a:r>
                    </a:p>
                    <a:p>
                      <a:pPr marL="0" indent="0">
                        <a:buFont typeface="Wingdings" panose="05000000000000000000" pitchFamily="2" charset="2"/>
                        <a:buNone/>
                      </a:pP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50318629"/>
                  </a:ext>
                </a:extLst>
              </a:tr>
            </a:tbl>
          </a:graphicData>
        </a:graphic>
      </p:graphicFrame>
    </p:spTree>
    <p:extLst>
      <p:ext uri="{BB962C8B-B14F-4D97-AF65-F5344CB8AC3E}">
        <p14:creationId xmlns:p14="http://schemas.microsoft.com/office/powerpoint/2010/main" val="1494894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391A8BE-DE11-DA1A-4D76-F43A734B923A}"/>
              </a:ext>
            </a:extLst>
          </p:cNvPr>
          <p:cNvGraphicFramePr>
            <a:graphicFrameLocks noGrp="1"/>
          </p:cNvGraphicFramePr>
          <p:nvPr>
            <p:extLst>
              <p:ext uri="{D42A27DB-BD31-4B8C-83A1-F6EECF244321}">
                <p14:modId xmlns:p14="http://schemas.microsoft.com/office/powerpoint/2010/main" val="2431616664"/>
              </p:ext>
            </p:extLst>
          </p:nvPr>
        </p:nvGraphicFramePr>
        <p:xfrm>
          <a:off x="191779" y="142416"/>
          <a:ext cx="11562734" cy="6573168"/>
        </p:xfrm>
        <a:graphic>
          <a:graphicData uri="http://schemas.openxmlformats.org/drawingml/2006/table">
            <a:tbl>
              <a:tblPr firstRow="1" bandRow="1">
                <a:tableStyleId>{69CF1AB2-1976-4502-BF36-3FF5EA218861}</a:tableStyleId>
              </a:tblPr>
              <a:tblGrid>
                <a:gridCol w="719028">
                  <a:extLst>
                    <a:ext uri="{9D8B030D-6E8A-4147-A177-3AD203B41FA5}">
                      <a16:colId xmlns:a16="http://schemas.microsoft.com/office/drawing/2014/main" val="1065882115"/>
                    </a:ext>
                  </a:extLst>
                </a:gridCol>
                <a:gridCol w="2270932">
                  <a:extLst>
                    <a:ext uri="{9D8B030D-6E8A-4147-A177-3AD203B41FA5}">
                      <a16:colId xmlns:a16="http://schemas.microsoft.com/office/drawing/2014/main" val="1055077879"/>
                    </a:ext>
                  </a:extLst>
                </a:gridCol>
                <a:gridCol w="2248677">
                  <a:extLst>
                    <a:ext uri="{9D8B030D-6E8A-4147-A177-3AD203B41FA5}">
                      <a16:colId xmlns:a16="http://schemas.microsoft.com/office/drawing/2014/main" val="4221908811"/>
                    </a:ext>
                  </a:extLst>
                </a:gridCol>
                <a:gridCol w="1415344">
                  <a:extLst>
                    <a:ext uri="{9D8B030D-6E8A-4147-A177-3AD203B41FA5}">
                      <a16:colId xmlns:a16="http://schemas.microsoft.com/office/drawing/2014/main" val="146750294"/>
                    </a:ext>
                  </a:extLst>
                </a:gridCol>
                <a:gridCol w="4908753">
                  <a:extLst>
                    <a:ext uri="{9D8B030D-6E8A-4147-A177-3AD203B41FA5}">
                      <a16:colId xmlns:a16="http://schemas.microsoft.com/office/drawing/2014/main" val="153508298"/>
                    </a:ext>
                  </a:extLst>
                </a:gridCol>
              </a:tblGrid>
              <a:tr h="657020">
                <a:tc>
                  <a:txBody>
                    <a:bodyPr/>
                    <a:lstStyle/>
                    <a:p>
                      <a:pPr algn="ctr"/>
                      <a:r>
                        <a:rPr lang="en-US" b="1" dirty="0">
                          <a:solidFill>
                            <a:schemeClr val="tx1"/>
                          </a:solidFill>
                          <a:latin typeface="Times New Roman" panose="02020603050405020304" pitchFamily="18" charset="0"/>
                          <a:cs typeface="Times New Roman" panose="02020603050405020304" pitchFamily="18" charset="0"/>
                        </a:rPr>
                        <a:t>S.NO</a:t>
                      </a:r>
                    </a:p>
                  </a:txBody>
                  <a:tcPr/>
                </a:tc>
                <a:tc>
                  <a:txBody>
                    <a:bodyPr/>
                    <a:lstStyle/>
                    <a:p>
                      <a:pPr algn="ctr"/>
                      <a:r>
                        <a:rPr lang="en-US" b="1" dirty="0">
                          <a:solidFill>
                            <a:schemeClr val="tx1"/>
                          </a:solidFill>
                          <a:latin typeface="Times New Roman" panose="02020603050405020304" pitchFamily="18" charset="0"/>
                          <a:cs typeface="Times New Roman" panose="02020603050405020304" pitchFamily="18" charset="0"/>
                        </a:rPr>
                        <a:t>Name of the authors</a:t>
                      </a:r>
                    </a:p>
                  </a:txBody>
                  <a:tcPr/>
                </a:tc>
                <a:tc>
                  <a:txBody>
                    <a:bodyPr/>
                    <a:lstStyle/>
                    <a:p>
                      <a:pPr algn="ctr"/>
                      <a:r>
                        <a:rPr lang="en-US" dirty="0">
                          <a:solidFill>
                            <a:schemeClr val="tx1"/>
                          </a:solidFill>
                          <a:latin typeface="Times New Roman" panose="02020603050405020304" pitchFamily="18" charset="0"/>
                          <a:cs typeface="Times New Roman" panose="02020603050405020304" pitchFamily="18" charset="0"/>
                        </a:rPr>
                        <a:t> Name of the </a:t>
                      </a:r>
                    </a:p>
                    <a:p>
                      <a:pPr algn="ctr"/>
                      <a:r>
                        <a:rPr lang="en-US" dirty="0">
                          <a:solidFill>
                            <a:schemeClr val="tx1"/>
                          </a:solidFill>
                          <a:latin typeface="Times New Roman" panose="02020603050405020304" pitchFamily="18" charset="0"/>
                          <a:cs typeface="Times New Roman" panose="02020603050405020304" pitchFamily="18" charset="0"/>
                        </a:rPr>
                        <a:t>journal</a:t>
                      </a:r>
                    </a:p>
                  </a:txBody>
                  <a:tcPr/>
                </a:tc>
                <a:tc>
                  <a:txBody>
                    <a:bodyPr/>
                    <a:lstStyle/>
                    <a:p>
                      <a:pPr algn="ctr"/>
                      <a:r>
                        <a:rPr lang="en-US" dirty="0">
                          <a:solidFill>
                            <a:schemeClr val="tx1"/>
                          </a:solidFill>
                          <a:latin typeface="Times New Roman" panose="02020603050405020304" pitchFamily="18" charset="0"/>
                          <a:cs typeface="Times New Roman" panose="02020603050405020304" pitchFamily="18" charset="0"/>
                        </a:rPr>
                        <a:t>Year of Publication</a:t>
                      </a:r>
                    </a:p>
                  </a:txBody>
                  <a:tcPr/>
                </a:tc>
                <a:tc>
                  <a:txBody>
                    <a:bodyPr/>
                    <a:lstStyle/>
                    <a:p>
                      <a:pPr algn="ctr"/>
                      <a:r>
                        <a:rPr lang="en-US" dirty="0">
                          <a:solidFill>
                            <a:schemeClr val="tx1"/>
                          </a:solidFill>
                          <a:latin typeface="Times New Roman" panose="02020603050405020304" pitchFamily="18" charset="0"/>
                          <a:cs typeface="Times New Roman" panose="02020603050405020304" pitchFamily="18" charset="0"/>
                        </a:rPr>
                        <a:t> explanation</a:t>
                      </a:r>
                    </a:p>
                    <a:p>
                      <a:pPr algn="ctr"/>
                      <a:r>
                        <a:rPr lang="en-US" dirty="0">
                          <a:solidFill>
                            <a:schemeClr val="tx1"/>
                          </a:solidFill>
                          <a:latin typeface="Times New Roman" panose="02020603050405020304" pitchFamily="18" charset="0"/>
                          <a:cs typeface="Times New Roman" panose="02020603050405020304" pitchFamily="18" charset="0"/>
                        </a:rPr>
                        <a:t>(Adv/Disadv)</a:t>
                      </a:r>
                    </a:p>
                  </a:txBody>
                  <a:tcPr/>
                </a:tc>
                <a:extLst>
                  <a:ext uri="{0D108BD9-81ED-4DB2-BD59-A6C34878D82A}">
                    <a16:rowId xmlns:a16="http://schemas.microsoft.com/office/drawing/2014/main" val="135244620"/>
                  </a:ext>
                </a:extLst>
              </a:tr>
              <a:tr h="2609178">
                <a:tc>
                  <a:txBody>
                    <a:bodyPr/>
                    <a:lstStyle/>
                    <a:p>
                      <a:pPr algn="ctr"/>
                      <a:r>
                        <a:rPr lang="en-US" b="1" dirty="0">
                          <a:latin typeface="Times New Roman" panose="02020603050405020304" pitchFamily="18" charset="0"/>
                          <a:cs typeface="Times New Roman" panose="02020603050405020304" pitchFamily="18" charset="0"/>
                        </a:rPr>
                        <a:t>4</a:t>
                      </a:r>
                    </a:p>
                  </a:txBody>
                  <a:tcPr/>
                </a:tc>
                <a:tc>
                  <a:txBody>
                    <a:bodyPr/>
                    <a:lstStyle/>
                    <a:p>
                      <a:r>
                        <a:rPr lang="en-IN" dirty="0">
                          <a:latin typeface="Times New Roman" panose="02020603050405020304" pitchFamily="18" charset="0"/>
                          <a:cs typeface="Times New Roman" panose="02020603050405020304" pitchFamily="18" charset="0"/>
                        </a:rPr>
                        <a:t>Mr.N.JyothiSwaroop Mr. P.Nagarjuna</a:t>
                      </a:r>
                    </a:p>
                    <a:p>
                      <a:r>
                        <a:rPr lang="en-IN" dirty="0">
                          <a:latin typeface="Times New Roman" panose="02020603050405020304" pitchFamily="18" charset="0"/>
                          <a:cs typeface="Times New Roman" panose="02020603050405020304" pitchFamily="18" charset="0"/>
                        </a:rPr>
                        <a:t>Mr. Ch. Seshu kumar </a:t>
                      </a:r>
                      <a:endParaRPr lang="en-US"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International journal of electrical and electronics engineers</a:t>
                      </a:r>
                    </a:p>
                    <a:p>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  June - 2022</a:t>
                      </a:r>
                    </a:p>
                  </a:txBody>
                  <a:tcPr/>
                </a:tc>
                <a:tc>
                  <a:txBody>
                    <a:bodyPr/>
                    <a:lstStyle/>
                    <a:p>
                      <a:pPr marL="285750" indent="-28575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By combining both RFID and microcontroller generates a project with wider boundaries and effective solutions.</a:t>
                      </a:r>
                    </a:p>
                    <a:p>
                      <a:pPr marL="285750" indent="-28575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More capabilities are being added, such as the ability to keep track of a student's details, such as fees due.</a:t>
                      </a:r>
                    </a:p>
                    <a:p>
                      <a:pPr marL="0" indent="0">
                        <a:buFont typeface="Wingdings" panose="05000000000000000000" pitchFamily="2" charset="2"/>
                        <a:buNone/>
                      </a:pPr>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45651795"/>
                  </a:ext>
                </a:extLst>
              </a:tr>
              <a:tr h="2898628">
                <a:tc>
                  <a:txBody>
                    <a:bodyPr/>
                    <a:lstStyle/>
                    <a:p>
                      <a:pPr algn="ctr"/>
                      <a:r>
                        <a:rPr lang="en-US" b="1" dirty="0">
                          <a:latin typeface="Times New Roman" panose="02020603050405020304" pitchFamily="18" charset="0"/>
                          <a:cs typeface="Times New Roman" panose="02020603050405020304" pitchFamily="18" charset="0"/>
                        </a:rPr>
                        <a:t>5</a:t>
                      </a:r>
                    </a:p>
                  </a:txBody>
                  <a:tcPr/>
                </a:tc>
                <a:tc>
                  <a:txBody>
                    <a:bodyPr/>
                    <a:lstStyle/>
                    <a:p>
                      <a:r>
                        <a:rPr lang="en-IN" dirty="0">
                          <a:latin typeface="Times New Roman" panose="02020603050405020304" pitchFamily="18" charset="0"/>
                          <a:cs typeface="Times New Roman" panose="02020603050405020304" pitchFamily="18" charset="0"/>
                        </a:rPr>
                        <a:t>S. Martin’, </a:t>
                      </a:r>
                    </a:p>
                    <a:p>
                      <a:r>
                        <a:rPr lang="en-IN" dirty="0">
                          <a:latin typeface="Times New Roman" panose="02020603050405020304" pitchFamily="18" charset="0"/>
                          <a:cs typeface="Times New Roman" panose="02020603050405020304" pitchFamily="18" charset="0"/>
                        </a:rPr>
                        <a:t>R. Gil’,</a:t>
                      </a:r>
                    </a:p>
                    <a:p>
                      <a:r>
                        <a:rPr lang="en-IN" dirty="0">
                          <a:latin typeface="Times New Roman" panose="02020603050405020304" pitchFamily="18" charset="0"/>
                          <a:cs typeface="Times New Roman" panose="02020603050405020304" pitchFamily="18" charset="0"/>
                        </a:rPr>
                        <a:t>J. Bravo.</a:t>
                      </a:r>
                      <a:br>
                        <a:rPr lang="en-IN"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Electrical and Computer Engineering Department Spanish University for Distance Education (UNED). </a:t>
                      </a:r>
                    </a:p>
                    <a:p>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       2007</a:t>
                      </a:r>
                    </a:p>
                  </a:txBody>
                  <a:tcPr/>
                </a:tc>
                <a:tc>
                  <a:txBody>
                    <a:bodyPr/>
                    <a:lstStyle/>
                    <a:p>
                      <a:pPr marL="285750" indent="-285750">
                        <a:buFont typeface="Wingdings" panose="05000000000000000000" pitchFamily="2" charset="2"/>
                        <a:buChar char="Ø"/>
                      </a:pPr>
                      <a:r>
                        <a:rPr lang="en-US" sz="2400" b="0" i="0" kern="1200" dirty="0">
                          <a:solidFill>
                            <a:schemeClr val="dk1"/>
                          </a:solidFill>
                          <a:effectLst/>
                          <a:latin typeface="Times New Roman" panose="02020603050405020304" pitchFamily="18" charset="0"/>
                          <a:ea typeface="+mn-ea"/>
                          <a:cs typeface="Times New Roman" panose="02020603050405020304" pitchFamily="18" charset="0"/>
                        </a:rPr>
                        <a:t>This includes reducing waiting times for class access and real-time identification of students entering and exiting the examination room.</a:t>
                      </a:r>
                      <a:r>
                        <a:rPr lang="en-US" sz="2400" b="0" i="0" u="none" dirty="0">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Ø"/>
                      </a:pPr>
                      <a:r>
                        <a:rPr lang="en-US" sz="2400" b="0" i="0" u="none" dirty="0">
                          <a:latin typeface="Times New Roman" panose="02020603050405020304" pitchFamily="18" charset="0"/>
                          <a:cs typeface="Times New Roman" panose="02020603050405020304" pitchFamily="18" charset="0"/>
                        </a:rPr>
                        <a:t>The coverage range of RFID is limited which is about 3 meters</a:t>
                      </a:r>
                      <a:r>
                        <a:rPr lang="en-US" sz="2000" b="0" i="0" u="none" dirty="0">
                          <a:latin typeface="Times New Roman" panose="02020603050405020304" pitchFamily="18" charset="0"/>
                          <a:cs typeface="Times New Roman" panose="02020603050405020304" pitchFamily="18" charset="0"/>
                        </a:rPr>
                        <a:t>.</a:t>
                      </a:r>
                      <a:endParaRPr lang="en-US" sz="2000" b="0" i="0" kern="1200" dirty="0">
                        <a:solidFill>
                          <a:schemeClr val="dk1"/>
                        </a:solidFill>
                        <a:effectLst/>
                        <a:latin typeface="Times New Roman" panose="02020603050405020304" pitchFamily="18" charset="0"/>
                        <a:ea typeface="+mn-ea"/>
                        <a:cs typeface="Times New Roman" panose="02020603050405020304" pitchFamily="18" charset="0"/>
                      </a:endParaRPr>
                    </a:p>
                    <a:p>
                      <a:endParaRPr lang="en-US" sz="1800" b="0" i="0" kern="1200" dirty="0">
                        <a:solidFill>
                          <a:schemeClr val="dk1"/>
                        </a:solidFill>
                        <a:effectLst/>
                        <a:latin typeface="Times New Roman" panose="02020603050405020304" pitchFamily="18" charset="0"/>
                        <a:ea typeface="+mn-ea"/>
                        <a:cs typeface="Times New Roman" panose="02020603050405020304" pitchFamily="18" charset="0"/>
                      </a:endParaRPr>
                    </a:p>
                    <a:p>
                      <a:pPr marL="285750" indent="-28575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19203867"/>
                  </a:ext>
                </a:extLst>
              </a:tr>
            </a:tbl>
          </a:graphicData>
        </a:graphic>
      </p:graphicFrame>
    </p:spTree>
    <p:extLst>
      <p:ext uri="{BB962C8B-B14F-4D97-AF65-F5344CB8AC3E}">
        <p14:creationId xmlns:p14="http://schemas.microsoft.com/office/powerpoint/2010/main" val="1103845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CC5390D5-1640-A776-CA5B-FF5A6CC9E677}"/>
              </a:ext>
            </a:extLst>
          </p:cNvPr>
          <p:cNvGraphicFramePr>
            <a:graphicFrameLocks noGrp="1"/>
          </p:cNvGraphicFramePr>
          <p:nvPr>
            <p:extLst>
              <p:ext uri="{D42A27DB-BD31-4B8C-83A1-F6EECF244321}">
                <p14:modId xmlns:p14="http://schemas.microsoft.com/office/powerpoint/2010/main" val="552907450"/>
              </p:ext>
            </p:extLst>
          </p:nvPr>
        </p:nvGraphicFramePr>
        <p:xfrm>
          <a:off x="334297" y="265471"/>
          <a:ext cx="11562734" cy="6192278"/>
        </p:xfrm>
        <a:graphic>
          <a:graphicData uri="http://schemas.openxmlformats.org/drawingml/2006/table">
            <a:tbl>
              <a:tblPr firstRow="1" bandRow="1">
                <a:tableStyleId>{69CF1AB2-1976-4502-BF36-3FF5EA218861}</a:tableStyleId>
              </a:tblPr>
              <a:tblGrid>
                <a:gridCol w="719028">
                  <a:extLst>
                    <a:ext uri="{9D8B030D-6E8A-4147-A177-3AD203B41FA5}">
                      <a16:colId xmlns:a16="http://schemas.microsoft.com/office/drawing/2014/main" val="2802059764"/>
                    </a:ext>
                  </a:extLst>
                </a:gridCol>
                <a:gridCol w="2079349">
                  <a:extLst>
                    <a:ext uri="{9D8B030D-6E8A-4147-A177-3AD203B41FA5}">
                      <a16:colId xmlns:a16="http://schemas.microsoft.com/office/drawing/2014/main" val="2818503578"/>
                    </a:ext>
                  </a:extLst>
                </a:gridCol>
                <a:gridCol w="2584498">
                  <a:extLst>
                    <a:ext uri="{9D8B030D-6E8A-4147-A177-3AD203B41FA5}">
                      <a16:colId xmlns:a16="http://schemas.microsoft.com/office/drawing/2014/main" val="1851706092"/>
                    </a:ext>
                  </a:extLst>
                </a:gridCol>
                <a:gridCol w="1309351">
                  <a:extLst>
                    <a:ext uri="{9D8B030D-6E8A-4147-A177-3AD203B41FA5}">
                      <a16:colId xmlns:a16="http://schemas.microsoft.com/office/drawing/2014/main" val="920067393"/>
                    </a:ext>
                  </a:extLst>
                </a:gridCol>
                <a:gridCol w="4870508">
                  <a:extLst>
                    <a:ext uri="{9D8B030D-6E8A-4147-A177-3AD203B41FA5}">
                      <a16:colId xmlns:a16="http://schemas.microsoft.com/office/drawing/2014/main" val="549520965"/>
                    </a:ext>
                  </a:extLst>
                </a:gridCol>
              </a:tblGrid>
              <a:tr h="657020">
                <a:tc>
                  <a:txBody>
                    <a:bodyPr/>
                    <a:lstStyle/>
                    <a:p>
                      <a:pPr algn="ctr"/>
                      <a:r>
                        <a:rPr lang="en-US" b="1" dirty="0">
                          <a:solidFill>
                            <a:schemeClr val="tx1"/>
                          </a:solidFill>
                          <a:latin typeface="Times New Roman" panose="02020603050405020304" pitchFamily="18" charset="0"/>
                          <a:cs typeface="Times New Roman" panose="02020603050405020304" pitchFamily="18" charset="0"/>
                        </a:rPr>
                        <a:t>S.NO</a:t>
                      </a:r>
                    </a:p>
                  </a:txBody>
                  <a:tcPr/>
                </a:tc>
                <a:tc>
                  <a:txBody>
                    <a:bodyPr/>
                    <a:lstStyle/>
                    <a:p>
                      <a:pPr algn="ctr"/>
                      <a:r>
                        <a:rPr lang="en-US" b="1" dirty="0">
                          <a:solidFill>
                            <a:schemeClr val="tx1"/>
                          </a:solidFill>
                          <a:latin typeface="Times New Roman" panose="02020603050405020304" pitchFamily="18" charset="0"/>
                          <a:cs typeface="Times New Roman" panose="02020603050405020304" pitchFamily="18" charset="0"/>
                        </a:rPr>
                        <a:t>Name of the authors</a:t>
                      </a:r>
                    </a:p>
                  </a:txBody>
                  <a:tcPr/>
                </a:tc>
                <a:tc>
                  <a:txBody>
                    <a:bodyPr/>
                    <a:lstStyle/>
                    <a:p>
                      <a:pPr algn="ctr"/>
                      <a:r>
                        <a:rPr lang="en-US" dirty="0">
                          <a:solidFill>
                            <a:schemeClr val="tx1"/>
                          </a:solidFill>
                          <a:latin typeface="Times New Roman" panose="02020603050405020304" pitchFamily="18" charset="0"/>
                          <a:cs typeface="Times New Roman" panose="02020603050405020304" pitchFamily="18" charset="0"/>
                        </a:rPr>
                        <a:t> Name of the </a:t>
                      </a:r>
                    </a:p>
                    <a:p>
                      <a:pPr algn="ctr"/>
                      <a:r>
                        <a:rPr lang="en-US" dirty="0">
                          <a:solidFill>
                            <a:schemeClr val="tx1"/>
                          </a:solidFill>
                          <a:latin typeface="Times New Roman" panose="02020603050405020304" pitchFamily="18" charset="0"/>
                          <a:cs typeface="Times New Roman" panose="02020603050405020304" pitchFamily="18" charset="0"/>
                        </a:rPr>
                        <a:t>journal</a:t>
                      </a:r>
                    </a:p>
                  </a:txBody>
                  <a:tcPr/>
                </a:tc>
                <a:tc>
                  <a:txBody>
                    <a:bodyPr/>
                    <a:lstStyle/>
                    <a:p>
                      <a:pPr algn="ctr"/>
                      <a:r>
                        <a:rPr lang="en-US" dirty="0">
                          <a:solidFill>
                            <a:schemeClr val="tx1"/>
                          </a:solidFill>
                          <a:latin typeface="Times New Roman" panose="02020603050405020304" pitchFamily="18" charset="0"/>
                          <a:cs typeface="Times New Roman" panose="02020603050405020304" pitchFamily="18" charset="0"/>
                        </a:rPr>
                        <a:t>Year of Publication</a:t>
                      </a:r>
                    </a:p>
                  </a:txBody>
                  <a:tcPr/>
                </a:tc>
                <a:tc>
                  <a:txBody>
                    <a:bodyPr/>
                    <a:lstStyle/>
                    <a:p>
                      <a:pPr algn="ctr"/>
                      <a:r>
                        <a:rPr lang="en-US" dirty="0">
                          <a:solidFill>
                            <a:schemeClr val="tx1"/>
                          </a:solidFill>
                          <a:latin typeface="Times New Roman" panose="02020603050405020304" pitchFamily="18" charset="0"/>
                          <a:cs typeface="Times New Roman" panose="02020603050405020304" pitchFamily="18" charset="0"/>
                        </a:rPr>
                        <a:t> explanation</a:t>
                      </a:r>
                    </a:p>
                    <a:p>
                      <a:pPr algn="ctr"/>
                      <a:r>
                        <a:rPr lang="en-US" dirty="0">
                          <a:solidFill>
                            <a:schemeClr val="tx1"/>
                          </a:solidFill>
                          <a:latin typeface="Times New Roman" panose="02020603050405020304" pitchFamily="18" charset="0"/>
                          <a:cs typeface="Times New Roman" panose="02020603050405020304" pitchFamily="18" charset="0"/>
                        </a:rPr>
                        <a:t>(Adv/Disadv)</a:t>
                      </a:r>
                    </a:p>
                  </a:txBody>
                  <a:tcPr/>
                </a:tc>
                <a:extLst>
                  <a:ext uri="{0D108BD9-81ED-4DB2-BD59-A6C34878D82A}">
                    <a16:rowId xmlns:a16="http://schemas.microsoft.com/office/drawing/2014/main" val="1126445687"/>
                  </a:ext>
                </a:extLst>
              </a:tr>
              <a:tr h="2609178">
                <a:tc>
                  <a:txBody>
                    <a:bodyPr/>
                    <a:lstStyle/>
                    <a:p>
                      <a:pPr algn="ctr"/>
                      <a:r>
                        <a:rPr lang="en-US" b="1" dirty="0">
                          <a:latin typeface="Times New Roman" panose="02020603050405020304" pitchFamily="18" charset="0"/>
                          <a:cs typeface="Times New Roman" panose="02020603050405020304" pitchFamily="18" charset="0"/>
                        </a:rPr>
                        <a:t>5</a:t>
                      </a:r>
                    </a:p>
                  </a:txBody>
                  <a:tcPr/>
                </a:tc>
                <a:tc>
                  <a:txBody>
                    <a:bodyPr/>
                    <a:lstStyle/>
                    <a:p>
                      <a:r>
                        <a:rPr lang="sv-SE" dirty="0">
                          <a:latin typeface="Times New Roman" panose="02020603050405020304" pitchFamily="18" charset="0"/>
                          <a:cs typeface="Times New Roman" panose="02020603050405020304" pitchFamily="18" charset="0"/>
                        </a:rPr>
                        <a:t>K. Vandana,</a:t>
                      </a:r>
                    </a:p>
                    <a:p>
                      <a:r>
                        <a:rPr lang="sv-SE" dirty="0">
                          <a:latin typeface="Times New Roman" panose="02020603050405020304" pitchFamily="18" charset="0"/>
                          <a:cs typeface="Times New Roman" panose="02020603050405020304" pitchFamily="18" charset="0"/>
                        </a:rPr>
                        <a:t>K. Anil Kumar.</a:t>
                      </a:r>
                    </a:p>
                  </a:txBody>
                  <a:tcPr/>
                </a:tc>
                <a:tc>
                  <a:txBody>
                    <a:bodyPr/>
                    <a:lstStyle/>
                    <a:p>
                      <a:r>
                        <a:rPr lang="en-US" dirty="0">
                          <a:latin typeface="Times New Roman" panose="02020603050405020304" pitchFamily="18" charset="0"/>
                          <a:cs typeface="Times New Roman" panose="02020603050405020304" pitchFamily="18" charset="0"/>
                        </a:rPr>
                        <a:t>International Research Journal of Engineering and Technology (IRJET) </a:t>
                      </a:r>
                    </a:p>
                  </a:txBody>
                  <a:tcPr/>
                </a:tc>
                <a:tc>
                  <a:txBody>
                    <a:bodyPr/>
                    <a:lstStyle/>
                    <a:p>
                      <a:r>
                        <a:rPr lang="en-US" dirty="0">
                          <a:latin typeface="Times New Roman" panose="02020603050405020304" pitchFamily="18" charset="0"/>
                          <a:cs typeface="Times New Roman" panose="02020603050405020304" pitchFamily="18" charset="0"/>
                        </a:rPr>
                        <a:t> Apr - 2018</a:t>
                      </a:r>
                    </a:p>
                  </a:txBody>
                  <a:tcPr/>
                </a:tc>
                <a:tc>
                  <a:txBody>
                    <a:bodyPr/>
                    <a:lstStyle/>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For the existing system we can also add figure print authentication and face recognition system can also be implemented for the purpose of better safety.</a:t>
                      </a: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reduces human effort and error </a:t>
                      </a:r>
                    </a:p>
                  </a:txBody>
                  <a:tcPr/>
                </a:tc>
                <a:extLst>
                  <a:ext uri="{0D108BD9-81ED-4DB2-BD59-A6C34878D82A}">
                    <a16:rowId xmlns:a16="http://schemas.microsoft.com/office/drawing/2014/main" val="3695359212"/>
                  </a:ext>
                </a:extLst>
              </a:tr>
              <a:tr h="2898628">
                <a:tc>
                  <a:txBody>
                    <a:bodyPr/>
                    <a:lstStyle/>
                    <a:p>
                      <a:pPr algn="ctr"/>
                      <a:r>
                        <a:rPr lang="en-US" b="1" dirty="0">
                          <a:latin typeface="Times New Roman" panose="02020603050405020304" pitchFamily="18" charset="0"/>
                          <a:cs typeface="Times New Roman" panose="02020603050405020304" pitchFamily="18" charset="0"/>
                        </a:rPr>
                        <a:t>6</a:t>
                      </a:r>
                    </a:p>
                  </a:txBody>
                  <a:tcPr/>
                </a:tc>
                <a:tc>
                  <a:txBody>
                    <a:bodyPr/>
                    <a:lstStyle/>
                    <a:p>
                      <a:r>
                        <a:rPr lang="en-US" dirty="0">
                          <a:latin typeface="Times New Roman" panose="02020603050405020304" pitchFamily="18" charset="0"/>
                          <a:cs typeface="Times New Roman" panose="02020603050405020304" pitchFamily="18" charset="0"/>
                        </a:rPr>
                        <a:t>Mr. D. S. Chaware1 </a:t>
                      </a:r>
                    </a:p>
                    <a:p>
                      <a:r>
                        <a:rPr lang="en-US" dirty="0">
                          <a:latin typeface="Times New Roman" panose="02020603050405020304" pitchFamily="18" charset="0"/>
                          <a:cs typeface="Times New Roman" panose="02020603050405020304" pitchFamily="18" charset="0"/>
                        </a:rPr>
                        <a:t>Mr. V. M. Pund.</a:t>
                      </a:r>
                    </a:p>
                  </a:txBody>
                  <a:tcPr/>
                </a:tc>
                <a:tc>
                  <a:txBody>
                    <a:bodyPr/>
                    <a:lstStyle/>
                    <a:p>
                      <a:r>
                        <a:rPr lang="en-US" dirty="0">
                          <a:latin typeface="Times New Roman" panose="02020603050405020304" pitchFamily="18" charset="0"/>
                          <a:cs typeface="Times New Roman" panose="02020603050405020304" pitchFamily="18" charset="0"/>
                        </a:rPr>
                        <a:t>International Journal for Scientific Research &amp; Development</a:t>
                      </a:r>
                    </a:p>
                  </a:txBody>
                  <a:tcPr/>
                </a:tc>
                <a:tc>
                  <a:txBody>
                    <a:bodyPr/>
                    <a:lstStyle/>
                    <a:p>
                      <a:r>
                        <a:rPr lang="en-US" dirty="0">
                          <a:latin typeface="Times New Roman" panose="02020603050405020304" pitchFamily="18" charset="0"/>
                          <a:cs typeface="Times New Roman" panose="02020603050405020304" pitchFamily="18" charset="0"/>
                        </a:rPr>
                        <a:t> Nov -2017</a:t>
                      </a:r>
                    </a:p>
                  </a:txBody>
                  <a:tcPr/>
                </a:tc>
                <a:tc>
                  <a:txBody>
                    <a:bodyPr/>
                    <a:lstStyle/>
                    <a:p>
                      <a:pPr marL="285750" indent="-28575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By integrating RFID Technology, we could successfully develop an embedded system for examination room guidance.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sz="2400" b="0" i="0" u="none" dirty="0">
                          <a:latin typeface="Times New Roman" panose="02020603050405020304" pitchFamily="18" charset="0"/>
                          <a:cs typeface="Times New Roman" panose="02020603050405020304" pitchFamily="18" charset="0"/>
                        </a:rPr>
                        <a:t>All RFID tags within range can be detected instantly and matched with information in your database</a:t>
                      </a:r>
                      <a:r>
                        <a:rPr lang="en-US" sz="2000" b="0" i="0" u="none" dirty="0">
                          <a:latin typeface="Times New Roman" panose="02020603050405020304" pitchFamily="18" charset="0"/>
                          <a:cs typeface="Times New Roman" panose="02020603050405020304" pitchFamily="18" charset="0"/>
                        </a:rPr>
                        <a:t>.</a:t>
                      </a:r>
                    </a:p>
                    <a:p>
                      <a:pPr marL="285750" indent="-28575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23810939"/>
                  </a:ext>
                </a:extLst>
              </a:tr>
            </a:tbl>
          </a:graphicData>
        </a:graphic>
      </p:graphicFrame>
    </p:spTree>
    <p:extLst>
      <p:ext uri="{BB962C8B-B14F-4D97-AF65-F5344CB8AC3E}">
        <p14:creationId xmlns:p14="http://schemas.microsoft.com/office/powerpoint/2010/main" val="35736155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4CAB6FC-8FBC-A3A6-7608-F026695B7877}"/>
              </a:ext>
            </a:extLst>
          </p:cNvPr>
          <p:cNvGraphicFramePr>
            <a:graphicFrameLocks noGrp="1"/>
          </p:cNvGraphicFramePr>
          <p:nvPr>
            <p:extLst>
              <p:ext uri="{D42A27DB-BD31-4B8C-83A1-F6EECF244321}">
                <p14:modId xmlns:p14="http://schemas.microsoft.com/office/powerpoint/2010/main" val="2297105875"/>
              </p:ext>
            </p:extLst>
          </p:nvPr>
        </p:nvGraphicFramePr>
        <p:xfrm>
          <a:off x="231058" y="545147"/>
          <a:ext cx="11729883" cy="5780688"/>
        </p:xfrm>
        <a:graphic>
          <a:graphicData uri="http://schemas.openxmlformats.org/drawingml/2006/table">
            <a:tbl>
              <a:tblPr firstRow="1" bandRow="1">
                <a:tableStyleId>{69CF1AB2-1976-4502-BF36-3FF5EA218861}</a:tableStyleId>
              </a:tblPr>
              <a:tblGrid>
                <a:gridCol w="729422">
                  <a:extLst>
                    <a:ext uri="{9D8B030D-6E8A-4147-A177-3AD203B41FA5}">
                      <a16:colId xmlns:a16="http://schemas.microsoft.com/office/drawing/2014/main" val="2838246821"/>
                    </a:ext>
                  </a:extLst>
                </a:gridCol>
                <a:gridCol w="2510508">
                  <a:extLst>
                    <a:ext uri="{9D8B030D-6E8A-4147-A177-3AD203B41FA5}">
                      <a16:colId xmlns:a16="http://schemas.microsoft.com/office/drawing/2014/main" val="3920871689"/>
                    </a:ext>
                  </a:extLst>
                </a:gridCol>
                <a:gridCol w="2220759">
                  <a:extLst>
                    <a:ext uri="{9D8B030D-6E8A-4147-A177-3AD203B41FA5}">
                      <a16:colId xmlns:a16="http://schemas.microsoft.com/office/drawing/2014/main" val="2188863206"/>
                    </a:ext>
                  </a:extLst>
                </a:gridCol>
                <a:gridCol w="1551308">
                  <a:extLst>
                    <a:ext uri="{9D8B030D-6E8A-4147-A177-3AD203B41FA5}">
                      <a16:colId xmlns:a16="http://schemas.microsoft.com/office/drawing/2014/main" val="3747628825"/>
                    </a:ext>
                  </a:extLst>
                </a:gridCol>
                <a:gridCol w="4717886">
                  <a:extLst>
                    <a:ext uri="{9D8B030D-6E8A-4147-A177-3AD203B41FA5}">
                      <a16:colId xmlns:a16="http://schemas.microsoft.com/office/drawing/2014/main" val="897435104"/>
                    </a:ext>
                  </a:extLst>
                </a:gridCol>
              </a:tblGrid>
              <a:tr h="657020">
                <a:tc>
                  <a:txBody>
                    <a:bodyPr/>
                    <a:lstStyle/>
                    <a:p>
                      <a:pPr algn="ctr"/>
                      <a:r>
                        <a:rPr lang="en-US" b="1" dirty="0">
                          <a:solidFill>
                            <a:schemeClr val="tx1"/>
                          </a:solidFill>
                          <a:latin typeface="Times New Roman" panose="02020603050405020304" pitchFamily="18" charset="0"/>
                          <a:cs typeface="Times New Roman" panose="02020603050405020304" pitchFamily="18" charset="0"/>
                        </a:rPr>
                        <a:t>S.NO</a:t>
                      </a:r>
                    </a:p>
                  </a:txBody>
                  <a:tcPr/>
                </a:tc>
                <a:tc>
                  <a:txBody>
                    <a:bodyPr/>
                    <a:lstStyle/>
                    <a:p>
                      <a:pPr algn="ctr"/>
                      <a:r>
                        <a:rPr lang="en-US" b="1" dirty="0">
                          <a:solidFill>
                            <a:schemeClr val="tx1"/>
                          </a:solidFill>
                          <a:latin typeface="Times New Roman" panose="02020603050405020304" pitchFamily="18" charset="0"/>
                          <a:cs typeface="Times New Roman" panose="02020603050405020304" pitchFamily="18" charset="0"/>
                        </a:rPr>
                        <a:t>Name of the authors</a:t>
                      </a:r>
                    </a:p>
                  </a:txBody>
                  <a:tcPr/>
                </a:tc>
                <a:tc>
                  <a:txBody>
                    <a:bodyPr/>
                    <a:lstStyle/>
                    <a:p>
                      <a:pPr algn="ctr"/>
                      <a:r>
                        <a:rPr lang="en-US" dirty="0">
                          <a:solidFill>
                            <a:schemeClr val="tx1"/>
                          </a:solidFill>
                          <a:latin typeface="Times New Roman" panose="02020603050405020304" pitchFamily="18" charset="0"/>
                          <a:cs typeface="Times New Roman" panose="02020603050405020304" pitchFamily="18" charset="0"/>
                        </a:rPr>
                        <a:t> Name of the </a:t>
                      </a:r>
                    </a:p>
                    <a:p>
                      <a:pPr algn="ctr"/>
                      <a:r>
                        <a:rPr lang="en-US" dirty="0">
                          <a:solidFill>
                            <a:schemeClr val="tx1"/>
                          </a:solidFill>
                          <a:latin typeface="Times New Roman" panose="02020603050405020304" pitchFamily="18" charset="0"/>
                          <a:cs typeface="Times New Roman" panose="02020603050405020304" pitchFamily="18" charset="0"/>
                        </a:rPr>
                        <a:t>journal</a:t>
                      </a:r>
                    </a:p>
                  </a:txBody>
                  <a:tcPr/>
                </a:tc>
                <a:tc>
                  <a:txBody>
                    <a:bodyPr/>
                    <a:lstStyle/>
                    <a:p>
                      <a:pPr algn="ctr"/>
                      <a:r>
                        <a:rPr lang="en-US" dirty="0">
                          <a:solidFill>
                            <a:schemeClr val="tx1"/>
                          </a:solidFill>
                          <a:latin typeface="Times New Roman" panose="02020603050405020304" pitchFamily="18" charset="0"/>
                          <a:cs typeface="Times New Roman" panose="02020603050405020304" pitchFamily="18" charset="0"/>
                        </a:rPr>
                        <a:t>Year of Publication</a:t>
                      </a:r>
                    </a:p>
                  </a:txBody>
                  <a:tcPr/>
                </a:tc>
                <a:tc>
                  <a:txBody>
                    <a:bodyPr/>
                    <a:lstStyle/>
                    <a:p>
                      <a:pPr algn="ctr"/>
                      <a:r>
                        <a:rPr lang="en-US" dirty="0">
                          <a:solidFill>
                            <a:schemeClr val="tx1"/>
                          </a:solidFill>
                          <a:latin typeface="Times New Roman" panose="02020603050405020304" pitchFamily="18" charset="0"/>
                          <a:cs typeface="Times New Roman" panose="02020603050405020304" pitchFamily="18" charset="0"/>
                        </a:rPr>
                        <a:t> explanation</a:t>
                      </a:r>
                    </a:p>
                    <a:p>
                      <a:pPr algn="ctr"/>
                      <a:r>
                        <a:rPr lang="en-US" dirty="0">
                          <a:solidFill>
                            <a:schemeClr val="tx1"/>
                          </a:solidFill>
                          <a:latin typeface="Times New Roman" panose="02020603050405020304" pitchFamily="18" charset="0"/>
                          <a:cs typeface="Times New Roman" panose="02020603050405020304" pitchFamily="18" charset="0"/>
                        </a:rPr>
                        <a:t>(Adv/Disadv)</a:t>
                      </a:r>
                    </a:p>
                  </a:txBody>
                  <a:tcPr/>
                </a:tc>
                <a:extLst>
                  <a:ext uri="{0D108BD9-81ED-4DB2-BD59-A6C34878D82A}">
                    <a16:rowId xmlns:a16="http://schemas.microsoft.com/office/drawing/2014/main" val="3428648742"/>
                  </a:ext>
                </a:extLst>
              </a:tr>
              <a:tr h="398590">
                <a:tc>
                  <a:txBody>
                    <a:bodyPr/>
                    <a:lstStyle/>
                    <a:p>
                      <a:pPr algn="ctr"/>
                      <a:r>
                        <a:rPr lang="en-US" b="1" dirty="0">
                          <a:latin typeface="Times New Roman" panose="02020603050405020304" pitchFamily="18" charset="0"/>
                          <a:cs typeface="Times New Roman" panose="02020603050405020304" pitchFamily="18" charset="0"/>
                        </a:rPr>
                        <a:t>7</a:t>
                      </a:r>
                    </a:p>
                  </a:txBody>
                  <a:tcPr/>
                </a:tc>
                <a:tc>
                  <a:txBody>
                    <a:bodyPr/>
                    <a:lstStyle/>
                    <a:p>
                      <a:r>
                        <a:rPr lang="en-IN" sz="2000" dirty="0">
                          <a:latin typeface="Times New Roman" panose="02020603050405020304" pitchFamily="18" charset="0"/>
                          <a:cs typeface="Times New Roman" panose="02020603050405020304" pitchFamily="18" charset="0"/>
                        </a:rPr>
                        <a:t>A. N. Nambiar</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A Supply Chain Perspective of RFID Systems</a:t>
                      </a:r>
                    </a:p>
                    <a:p>
                      <a:endParaRPr lang="en-US"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International Journal of Industrial and Manufacturing Engineering</a:t>
                      </a:r>
                    </a:p>
                    <a:p>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 Dec - 2009</a:t>
                      </a:r>
                    </a:p>
                  </a:txBody>
                  <a:tcPr/>
                </a:tc>
                <a:tc>
                  <a:txBody>
                    <a:bodyPr/>
                    <a:lstStyle/>
                    <a:p>
                      <a:pPr marL="342900" indent="-3429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RFID systems facilitate automatic and remote identification of components</a:t>
                      </a:r>
                    </a:p>
                    <a:p>
                      <a:pPr marL="342900" indent="-3429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Tag identification that is not visible to the naked eye.</a:t>
                      </a:r>
                    </a:p>
                  </a:txBody>
                  <a:tcPr/>
                </a:tc>
                <a:extLst>
                  <a:ext uri="{0D108BD9-81ED-4DB2-BD59-A6C34878D82A}">
                    <a16:rowId xmlns:a16="http://schemas.microsoft.com/office/drawing/2014/main" val="2900991886"/>
                  </a:ext>
                </a:extLst>
              </a:tr>
              <a:tr h="2898628">
                <a:tc>
                  <a:txBody>
                    <a:bodyPr/>
                    <a:lstStyle/>
                    <a:p>
                      <a:pPr algn="ctr"/>
                      <a:r>
                        <a:rPr lang="en-US" b="1" dirty="0">
                          <a:latin typeface="Times New Roman" panose="02020603050405020304" pitchFamily="18" charset="0"/>
                          <a:cs typeface="Times New Roman" panose="02020603050405020304" pitchFamily="18" charset="0"/>
                        </a:rPr>
                        <a:t>8</a:t>
                      </a:r>
                    </a:p>
                  </a:txBody>
                  <a:tcPr/>
                </a:tc>
                <a:tc>
                  <a:txBody>
                    <a:bodyPr/>
                    <a:lstStyle/>
                    <a:p>
                      <a:r>
                        <a:rPr lang="en-IN" sz="1800" b="0" i="0" kern="1200" dirty="0">
                          <a:solidFill>
                            <a:schemeClr val="dk1"/>
                          </a:solidFill>
                          <a:effectLst/>
                          <a:latin typeface="Times New Roman" panose="02020603050405020304" pitchFamily="18" charset="0"/>
                          <a:ea typeface="+mn-ea"/>
                          <a:cs typeface="Times New Roman" panose="02020603050405020304" pitchFamily="18" charset="0"/>
                        </a:rPr>
                        <a:t>*RKAR. Kariapper, </a:t>
                      </a:r>
                    </a:p>
                    <a:p>
                      <a:r>
                        <a:rPr lang="en-IN" sz="1800" b="0" i="0" kern="1200" dirty="0">
                          <a:solidFill>
                            <a:schemeClr val="dk1"/>
                          </a:solidFill>
                          <a:effectLst/>
                          <a:latin typeface="Times New Roman" panose="02020603050405020304" pitchFamily="18" charset="0"/>
                          <a:ea typeface="+mn-ea"/>
                          <a:cs typeface="Times New Roman" panose="02020603050405020304" pitchFamily="18" charset="0"/>
                        </a:rPr>
                        <a:t>MS. *Suhail Razeeth.</a:t>
                      </a:r>
                    </a:p>
                  </a:txBody>
                  <a:tcPr/>
                </a:tc>
                <a:tc>
                  <a:txBody>
                    <a:bodyPr/>
                    <a:lstStyle/>
                    <a:p>
                      <a:r>
                        <a:rPr lang="en-US" dirty="0">
                          <a:latin typeface="Times New Roman" panose="02020603050405020304" pitchFamily="18" charset="0"/>
                          <a:cs typeface="Times New Roman" panose="02020603050405020304" pitchFamily="18" charset="0"/>
                        </a:rPr>
                        <a:t>International Research Journal of Modernization in Engineering Technology and Science </a:t>
                      </a:r>
                    </a:p>
                  </a:txBody>
                  <a:tcPr/>
                </a:tc>
                <a:tc>
                  <a:txBody>
                    <a:bodyPr/>
                    <a:lstStyle/>
                    <a:p>
                      <a:r>
                        <a:rPr lang="en-US" dirty="0">
                          <a:latin typeface="Times New Roman" panose="02020603050405020304" pitchFamily="18" charset="0"/>
                          <a:cs typeface="Times New Roman" panose="02020603050405020304" pitchFamily="18" charset="0"/>
                        </a:rPr>
                        <a:t>  2005</a:t>
                      </a:r>
                    </a:p>
                  </a:txBody>
                  <a:tcPr/>
                </a:tc>
                <a:tc>
                  <a:txBody>
                    <a:bodyPr/>
                    <a:lstStyle/>
                    <a:p>
                      <a:pPr marL="342900" indent="-342900">
                        <a:buFont typeface="Wingdings" panose="05000000000000000000" pitchFamily="2" charset="2"/>
                        <a:buChar char="Ø"/>
                      </a:pPr>
                      <a:r>
                        <a:rPr lang="en-US" sz="2400" b="0" i="0" kern="1200" dirty="0">
                          <a:solidFill>
                            <a:schemeClr val="dk1"/>
                          </a:solidFill>
                          <a:effectLst/>
                          <a:latin typeface="+mn-lt"/>
                          <a:ea typeface="+mn-ea"/>
                          <a:cs typeface="Times New Roman" panose="02020603050405020304" pitchFamily="18" charset="0"/>
                        </a:rPr>
                        <a:t>A RFID BASED (IoT) AUTOMATIC ATTENDANCE SYSTEM: A SURVEY ANALASIS </a:t>
                      </a:r>
                    </a:p>
                    <a:p>
                      <a:pPr marL="342900" indent="-342900">
                        <a:buFont typeface="Wingdings" panose="05000000000000000000" pitchFamily="2" charset="2"/>
                        <a:buChar char="Ø"/>
                      </a:pPr>
                      <a:r>
                        <a:rPr lang="en-US" sz="2400" b="0" i="0" kern="1200" dirty="0">
                          <a:solidFill>
                            <a:schemeClr val="dk1"/>
                          </a:solidFill>
                          <a:effectLst/>
                          <a:latin typeface="Times New Roman" panose="02020603050405020304" pitchFamily="18" charset="0"/>
                          <a:ea typeface="+mn-ea"/>
                          <a:cs typeface="Times New Roman" panose="02020603050405020304" pitchFamily="18" charset="0"/>
                        </a:rPr>
                        <a:t>This attendance system software has been developed using VB.net and database (Microsoft Access)</a:t>
                      </a:r>
                    </a:p>
                  </a:txBody>
                  <a:tcPr/>
                </a:tc>
                <a:extLst>
                  <a:ext uri="{0D108BD9-81ED-4DB2-BD59-A6C34878D82A}">
                    <a16:rowId xmlns:a16="http://schemas.microsoft.com/office/drawing/2014/main" val="12620629"/>
                  </a:ext>
                </a:extLst>
              </a:tr>
            </a:tbl>
          </a:graphicData>
        </a:graphic>
      </p:graphicFrame>
    </p:spTree>
    <p:extLst>
      <p:ext uri="{BB962C8B-B14F-4D97-AF65-F5344CB8AC3E}">
        <p14:creationId xmlns:p14="http://schemas.microsoft.com/office/powerpoint/2010/main" val="22419407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7801059-4791-20BF-A769-61F2E2C8CE42}"/>
              </a:ext>
            </a:extLst>
          </p:cNvPr>
          <p:cNvSpPr txBox="1"/>
          <p:nvPr/>
        </p:nvSpPr>
        <p:spPr>
          <a:xfrm>
            <a:off x="529235" y="239355"/>
            <a:ext cx="6208089" cy="830997"/>
          </a:xfrm>
          <a:prstGeom prst="rect">
            <a:avLst/>
          </a:prstGeom>
          <a:noFill/>
        </p:spPr>
        <p:txBody>
          <a:bodyPr wrap="square" rtlCol="0">
            <a:spAutoFit/>
          </a:bodyPr>
          <a:lstStyle/>
          <a:p>
            <a:r>
              <a:rPr lang="en-IN" sz="4800" b="1" dirty="0">
                <a:solidFill>
                  <a:srgbClr val="C00000"/>
                </a:solidFill>
                <a:latin typeface="Times New Roman" panose="02020603050405020304" pitchFamily="18" charset="0"/>
                <a:cs typeface="Times New Roman" panose="02020603050405020304" pitchFamily="18" charset="0"/>
              </a:rPr>
              <a:t>Problem statement:-</a:t>
            </a:r>
            <a:endParaRPr lang="en-IN" sz="4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E50CA12-F3BC-1690-DC32-5982B8751DA7}"/>
              </a:ext>
            </a:extLst>
          </p:cNvPr>
          <p:cNvSpPr txBox="1"/>
          <p:nvPr/>
        </p:nvSpPr>
        <p:spPr>
          <a:xfrm>
            <a:off x="314631" y="1372729"/>
            <a:ext cx="10923638" cy="4524315"/>
          </a:xfrm>
          <a:prstGeom prst="rect">
            <a:avLst/>
          </a:prstGeom>
          <a:noFill/>
        </p:spPr>
        <p:txBody>
          <a:bodyPr wrap="square">
            <a:spAutoFit/>
          </a:bodyPr>
          <a:lstStyle/>
          <a:p>
            <a:pPr marL="457200" indent="-457200" algn="just">
              <a:buFont typeface="Wingdings" panose="05000000000000000000" pitchFamily="2" charset="2"/>
              <a:buChar char="Ø"/>
            </a:pPr>
            <a:r>
              <a:rPr lang="en-US" sz="3200" b="0" i="0" dirty="0">
                <a:solidFill>
                  <a:srgbClr val="111111"/>
                </a:solidFill>
                <a:effectLst/>
                <a:highlight>
                  <a:srgbClr val="FFFFFF"/>
                </a:highlight>
                <a:latin typeface="Times New Roman" panose="02020603050405020304" pitchFamily="18" charset="0"/>
                <a:cs typeface="Times New Roman" panose="02020603050405020304" pitchFamily="18" charset="0"/>
              </a:rPr>
              <a:t>In the context of examination centers, especially those implementing a jumbling system, students often face challenges in locating their examination rooms.</a:t>
            </a:r>
          </a:p>
          <a:p>
            <a:pPr marL="457200" indent="-457200" algn="just">
              <a:buFont typeface="Wingdings" panose="05000000000000000000" pitchFamily="2" charset="2"/>
              <a:buChar char="Ø"/>
            </a:pPr>
            <a:r>
              <a:rPr lang="en-US" sz="3200" b="0" i="0" dirty="0">
                <a:solidFill>
                  <a:srgbClr val="111111"/>
                </a:solidFill>
                <a:effectLst/>
                <a:highlight>
                  <a:srgbClr val="FFFFFF"/>
                </a:highlight>
                <a:latin typeface="Times New Roman" panose="02020603050405020304" pitchFamily="18" charset="0"/>
                <a:cs typeface="Times New Roman" panose="02020603050405020304" pitchFamily="18" charset="0"/>
              </a:rPr>
              <a:t>This can lead to anxiety and confusion, potentially impacting their performance. </a:t>
            </a:r>
          </a:p>
          <a:p>
            <a:pPr marL="457200" indent="-457200" algn="just">
              <a:buFont typeface="Wingdings" panose="05000000000000000000" pitchFamily="2" charset="2"/>
              <a:buChar char="Ø"/>
            </a:pPr>
            <a:r>
              <a:rPr lang="en-US" sz="3200" b="0" i="0" dirty="0">
                <a:solidFill>
                  <a:srgbClr val="111111"/>
                </a:solidFill>
                <a:effectLst/>
                <a:highlight>
                  <a:srgbClr val="FFFFFF"/>
                </a:highlight>
                <a:latin typeface="Times New Roman" panose="02020603050405020304" pitchFamily="18" charset="0"/>
                <a:cs typeface="Times New Roman" panose="02020603050405020304" pitchFamily="18" charset="0"/>
              </a:rPr>
              <a:t>The goal is to develop an </a:t>
            </a:r>
            <a:r>
              <a:rPr lang="en-US" sz="3200" b="1" i="0" dirty="0">
                <a:solidFill>
                  <a:srgbClr val="111111"/>
                </a:solidFill>
                <a:effectLst/>
                <a:highlight>
                  <a:srgbClr val="FFFFFF"/>
                </a:highlight>
                <a:latin typeface="Times New Roman" panose="02020603050405020304" pitchFamily="18" charset="0"/>
                <a:cs typeface="Times New Roman" panose="02020603050405020304" pitchFamily="18" charset="0"/>
              </a:rPr>
              <a:t>Examination Room Guidance System</a:t>
            </a:r>
            <a:r>
              <a:rPr lang="en-US" sz="3200" b="0" i="0" dirty="0">
                <a:solidFill>
                  <a:srgbClr val="111111"/>
                </a:solidFill>
                <a:effectLst/>
                <a:highlight>
                  <a:srgbClr val="FFFFFF"/>
                </a:highlight>
                <a:latin typeface="Times New Roman" panose="02020603050405020304" pitchFamily="18" charset="0"/>
                <a:cs typeface="Times New Roman" panose="02020603050405020304" pitchFamily="18" charset="0"/>
              </a:rPr>
              <a:t> using RFID (Radio Frequency Identification) technology to streamline the process of guiding students to their respective rooms efficiently</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98870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1FD939-223E-5608-E2FC-C4E0D325AE09}"/>
              </a:ext>
            </a:extLst>
          </p:cNvPr>
          <p:cNvSpPr txBox="1"/>
          <p:nvPr/>
        </p:nvSpPr>
        <p:spPr>
          <a:xfrm>
            <a:off x="521109" y="335716"/>
            <a:ext cx="6096000" cy="769441"/>
          </a:xfrm>
          <a:prstGeom prst="rect">
            <a:avLst/>
          </a:prstGeom>
          <a:noFill/>
        </p:spPr>
        <p:txBody>
          <a:bodyPr wrap="square">
            <a:spAutoFit/>
          </a:bodyPr>
          <a:lstStyle/>
          <a:p>
            <a:r>
              <a:rPr lang="en-IN" sz="4400" b="1" dirty="0">
                <a:solidFill>
                  <a:srgbClr val="C00000"/>
                </a:solidFill>
                <a:latin typeface="Times New Roman" panose="02020603050405020304" pitchFamily="18" charset="0"/>
                <a:cs typeface="Times New Roman" panose="02020603050405020304" pitchFamily="18" charset="0"/>
              </a:rPr>
              <a:t>Problem Methodology:-</a:t>
            </a:r>
            <a:endParaRPr lang="en-IN" sz="4400"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CB57269-BAA9-1F0A-73A8-63A40C69369E}"/>
              </a:ext>
            </a:extLst>
          </p:cNvPr>
          <p:cNvSpPr/>
          <p:nvPr/>
        </p:nvSpPr>
        <p:spPr>
          <a:xfrm>
            <a:off x="811763" y="2990461"/>
            <a:ext cx="1744825" cy="877078"/>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POWER SUPPLY</a:t>
            </a:r>
          </a:p>
        </p:txBody>
      </p:sp>
      <p:sp>
        <p:nvSpPr>
          <p:cNvPr id="6" name="Rectangle 5">
            <a:extLst>
              <a:ext uri="{FF2B5EF4-FFF2-40B4-BE49-F238E27FC236}">
                <a16:creationId xmlns:a16="http://schemas.microsoft.com/office/drawing/2014/main" id="{E5D864C0-83FE-6B0E-760A-906298A35539}"/>
              </a:ext>
            </a:extLst>
          </p:cNvPr>
          <p:cNvSpPr/>
          <p:nvPr/>
        </p:nvSpPr>
        <p:spPr>
          <a:xfrm>
            <a:off x="3424335" y="2705878"/>
            <a:ext cx="3769567" cy="1679510"/>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dirty="0"/>
              <a:t>ARDUINO UNO</a:t>
            </a:r>
          </a:p>
        </p:txBody>
      </p:sp>
      <p:sp>
        <p:nvSpPr>
          <p:cNvPr id="7" name="Rectangle 6">
            <a:extLst>
              <a:ext uri="{FF2B5EF4-FFF2-40B4-BE49-F238E27FC236}">
                <a16:creationId xmlns:a16="http://schemas.microsoft.com/office/drawing/2014/main" id="{E192BBE4-63DC-C68C-595E-9F1BEC594130}"/>
              </a:ext>
            </a:extLst>
          </p:cNvPr>
          <p:cNvSpPr/>
          <p:nvPr/>
        </p:nvSpPr>
        <p:spPr>
          <a:xfrm>
            <a:off x="8509518" y="2939143"/>
            <a:ext cx="2090058" cy="958730"/>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EM-18 READER MODULE</a:t>
            </a:r>
          </a:p>
        </p:txBody>
      </p:sp>
      <p:sp>
        <p:nvSpPr>
          <p:cNvPr id="9" name="Arrow: Right 8">
            <a:extLst>
              <a:ext uri="{FF2B5EF4-FFF2-40B4-BE49-F238E27FC236}">
                <a16:creationId xmlns:a16="http://schemas.microsoft.com/office/drawing/2014/main" id="{B95EE342-FA7E-F7E7-2B66-F84769092499}"/>
              </a:ext>
            </a:extLst>
          </p:cNvPr>
          <p:cNvSpPr/>
          <p:nvPr/>
        </p:nvSpPr>
        <p:spPr>
          <a:xfrm>
            <a:off x="2631233" y="3194563"/>
            <a:ext cx="718457" cy="46887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F5086480-1DE1-7BBD-AD21-21FB05B28E60}"/>
              </a:ext>
            </a:extLst>
          </p:cNvPr>
          <p:cNvSpPr/>
          <p:nvPr/>
        </p:nvSpPr>
        <p:spPr>
          <a:xfrm>
            <a:off x="3349690" y="5010539"/>
            <a:ext cx="2080726" cy="742303"/>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LCD DISPLAY</a:t>
            </a:r>
          </a:p>
        </p:txBody>
      </p:sp>
      <p:sp>
        <p:nvSpPr>
          <p:cNvPr id="11" name="Arrow: Right 10">
            <a:extLst>
              <a:ext uri="{FF2B5EF4-FFF2-40B4-BE49-F238E27FC236}">
                <a16:creationId xmlns:a16="http://schemas.microsoft.com/office/drawing/2014/main" id="{3155726F-903B-559A-B4D5-DD3BC5B099F3}"/>
              </a:ext>
            </a:extLst>
          </p:cNvPr>
          <p:cNvSpPr/>
          <p:nvPr/>
        </p:nvSpPr>
        <p:spPr>
          <a:xfrm rot="2733921">
            <a:off x="1991323" y="4313003"/>
            <a:ext cx="1550408" cy="40951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1F4ABC1A-26B5-9769-42F3-C76DDEF3136D}"/>
              </a:ext>
            </a:extLst>
          </p:cNvPr>
          <p:cNvSpPr/>
          <p:nvPr/>
        </p:nvSpPr>
        <p:spPr>
          <a:xfrm>
            <a:off x="8780106" y="4273420"/>
            <a:ext cx="1614196" cy="298580"/>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BUZZER</a:t>
            </a:r>
          </a:p>
        </p:txBody>
      </p:sp>
      <p:sp>
        <p:nvSpPr>
          <p:cNvPr id="13" name="Arrow: Down 12">
            <a:extLst>
              <a:ext uri="{FF2B5EF4-FFF2-40B4-BE49-F238E27FC236}">
                <a16:creationId xmlns:a16="http://schemas.microsoft.com/office/drawing/2014/main" id="{DEA58DE1-9BAE-49A2-92C8-7C2E60AD88E1}"/>
              </a:ext>
            </a:extLst>
          </p:cNvPr>
          <p:cNvSpPr/>
          <p:nvPr/>
        </p:nvSpPr>
        <p:spPr>
          <a:xfrm>
            <a:off x="9451910" y="3897873"/>
            <a:ext cx="214604" cy="37554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Left 13">
            <a:extLst>
              <a:ext uri="{FF2B5EF4-FFF2-40B4-BE49-F238E27FC236}">
                <a16:creationId xmlns:a16="http://schemas.microsoft.com/office/drawing/2014/main" id="{F8F22334-A993-927C-50B8-D050F0C01434}"/>
              </a:ext>
            </a:extLst>
          </p:cNvPr>
          <p:cNvSpPr/>
          <p:nvPr/>
        </p:nvSpPr>
        <p:spPr>
          <a:xfrm>
            <a:off x="7268546" y="3266875"/>
            <a:ext cx="1240971" cy="349898"/>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D5756BCB-2A54-1FC7-C3C0-4B11BE03C148}"/>
              </a:ext>
            </a:extLst>
          </p:cNvPr>
          <p:cNvSpPr/>
          <p:nvPr/>
        </p:nvSpPr>
        <p:spPr>
          <a:xfrm>
            <a:off x="4385388" y="1558212"/>
            <a:ext cx="2015412" cy="689946"/>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FINGER PRINT MODULE</a:t>
            </a:r>
          </a:p>
        </p:txBody>
      </p:sp>
      <p:sp>
        <p:nvSpPr>
          <p:cNvPr id="16" name="Arrow: Down 15">
            <a:extLst>
              <a:ext uri="{FF2B5EF4-FFF2-40B4-BE49-F238E27FC236}">
                <a16:creationId xmlns:a16="http://schemas.microsoft.com/office/drawing/2014/main" id="{D6586881-D8DE-A578-E7F9-1F3E19B4FBC8}"/>
              </a:ext>
            </a:extLst>
          </p:cNvPr>
          <p:cNvSpPr/>
          <p:nvPr/>
        </p:nvSpPr>
        <p:spPr>
          <a:xfrm>
            <a:off x="5309118" y="2248158"/>
            <a:ext cx="195943" cy="45305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A5AB2392-4FDD-BF88-842B-905AA08B4CF8}"/>
              </a:ext>
            </a:extLst>
          </p:cNvPr>
          <p:cNvSpPr/>
          <p:nvPr/>
        </p:nvSpPr>
        <p:spPr>
          <a:xfrm>
            <a:off x="8686800" y="2111804"/>
            <a:ext cx="1614196" cy="451792"/>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RFID TAG</a:t>
            </a:r>
          </a:p>
        </p:txBody>
      </p:sp>
      <p:sp>
        <p:nvSpPr>
          <p:cNvPr id="18" name="Arrow: Down 17">
            <a:extLst>
              <a:ext uri="{FF2B5EF4-FFF2-40B4-BE49-F238E27FC236}">
                <a16:creationId xmlns:a16="http://schemas.microsoft.com/office/drawing/2014/main" id="{8E9CB321-7CC2-411A-9D1D-6AB77CB62360}"/>
              </a:ext>
            </a:extLst>
          </p:cNvPr>
          <p:cNvSpPr/>
          <p:nvPr/>
        </p:nvSpPr>
        <p:spPr>
          <a:xfrm>
            <a:off x="9451910" y="2563596"/>
            <a:ext cx="214604" cy="37554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Arrow: Down 18">
            <a:extLst>
              <a:ext uri="{FF2B5EF4-FFF2-40B4-BE49-F238E27FC236}">
                <a16:creationId xmlns:a16="http://schemas.microsoft.com/office/drawing/2014/main" id="{7BE2CD35-B2DB-4ADF-C1AF-5A186000522D}"/>
              </a:ext>
            </a:extLst>
          </p:cNvPr>
          <p:cNvSpPr/>
          <p:nvPr/>
        </p:nvSpPr>
        <p:spPr>
          <a:xfrm>
            <a:off x="4284312" y="4442532"/>
            <a:ext cx="335902" cy="53184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a:extLst>
              <a:ext uri="{FF2B5EF4-FFF2-40B4-BE49-F238E27FC236}">
                <a16:creationId xmlns:a16="http://schemas.microsoft.com/office/drawing/2014/main" id="{01CD079B-DE13-A82C-6D97-68BCD35599F2}"/>
              </a:ext>
            </a:extLst>
          </p:cNvPr>
          <p:cNvSpPr/>
          <p:nvPr/>
        </p:nvSpPr>
        <p:spPr>
          <a:xfrm>
            <a:off x="5971592" y="5010539"/>
            <a:ext cx="1296954" cy="742303"/>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LED</a:t>
            </a:r>
          </a:p>
        </p:txBody>
      </p:sp>
      <p:sp>
        <p:nvSpPr>
          <p:cNvPr id="21" name="Arrow: Down 20">
            <a:extLst>
              <a:ext uri="{FF2B5EF4-FFF2-40B4-BE49-F238E27FC236}">
                <a16:creationId xmlns:a16="http://schemas.microsoft.com/office/drawing/2014/main" id="{844D33A7-FC5C-3BE7-3A77-C31E5EF670BF}"/>
              </a:ext>
            </a:extLst>
          </p:cNvPr>
          <p:cNvSpPr/>
          <p:nvPr/>
        </p:nvSpPr>
        <p:spPr>
          <a:xfrm>
            <a:off x="6400800" y="4442532"/>
            <a:ext cx="335902" cy="53184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646892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15C86BE-9BE3-894A-3326-BE6C180ED4F7}"/>
              </a:ext>
            </a:extLst>
          </p:cNvPr>
          <p:cNvSpPr txBox="1"/>
          <p:nvPr/>
        </p:nvSpPr>
        <p:spPr>
          <a:xfrm>
            <a:off x="250019" y="30125"/>
            <a:ext cx="4975123" cy="830997"/>
          </a:xfrm>
          <a:prstGeom prst="rect">
            <a:avLst/>
          </a:prstGeom>
          <a:noFill/>
        </p:spPr>
        <p:txBody>
          <a:bodyPr wrap="square" rtlCol="0">
            <a:spAutoFit/>
          </a:bodyPr>
          <a:lstStyle/>
          <a:p>
            <a:r>
              <a:rPr lang="en-IN" sz="4800" b="1" dirty="0">
                <a:solidFill>
                  <a:srgbClr val="C00000"/>
                </a:solidFill>
                <a:latin typeface="Times New Roman" panose="02020603050405020304" pitchFamily="18" charset="0"/>
                <a:cs typeface="Times New Roman" panose="02020603050405020304" pitchFamily="18" charset="0"/>
              </a:rPr>
              <a:t>Requirements:-</a:t>
            </a:r>
            <a:endParaRPr lang="en-IN" sz="48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1E2236B-F967-7033-E9F7-93DC373B17B1}"/>
              </a:ext>
            </a:extLst>
          </p:cNvPr>
          <p:cNvSpPr txBox="1"/>
          <p:nvPr/>
        </p:nvSpPr>
        <p:spPr>
          <a:xfrm>
            <a:off x="250019" y="1068991"/>
            <a:ext cx="3818848" cy="1107996"/>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Hardware required :</a:t>
            </a:r>
          </a:p>
          <a:p>
            <a:r>
              <a:rPr lang="en-US" sz="2000" dirty="0">
                <a:latin typeface="Times New Roman" panose="02020603050405020304" pitchFamily="18" charset="0"/>
                <a:cs typeface="Times New Roman" panose="02020603050405020304" pitchFamily="18" charset="0"/>
              </a:rPr>
              <a:t> </a:t>
            </a:r>
          </a:p>
          <a:p>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970B5FE2-3724-3590-DE0B-125D18E04740}"/>
              </a:ext>
            </a:extLst>
          </p:cNvPr>
          <p:cNvSpPr txBox="1"/>
          <p:nvPr/>
        </p:nvSpPr>
        <p:spPr>
          <a:xfrm>
            <a:off x="176749" y="5066974"/>
            <a:ext cx="4133993"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1) ARDUINO UNO </a:t>
            </a:r>
          </a:p>
        </p:txBody>
      </p:sp>
      <p:sp>
        <p:nvSpPr>
          <p:cNvPr id="11" name="TextBox 10">
            <a:extLst>
              <a:ext uri="{FF2B5EF4-FFF2-40B4-BE49-F238E27FC236}">
                <a16:creationId xmlns:a16="http://schemas.microsoft.com/office/drawing/2014/main" id="{741C88D9-AF0C-B1F8-4812-064B77548611}"/>
              </a:ext>
            </a:extLst>
          </p:cNvPr>
          <p:cNvSpPr txBox="1"/>
          <p:nvPr/>
        </p:nvSpPr>
        <p:spPr>
          <a:xfrm>
            <a:off x="4645066" y="5066974"/>
            <a:ext cx="3236194"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2) RFID Reader </a:t>
            </a:r>
          </a:p>
        </p:txBody>
      </p:sp>
      <p:pic>
        <p:nvPicPr>
          <p:cNvPr id="13" name="Picture 12">
            <a:extLst>
              <a:ext uri="{FF2B5EF4-FFF2-40B4-BE49-F238E27FC236}">
                <a16:creationId xmlns:a16="http://schemas.microsoft.com/office/drawing/2014/main" id="{7CBA62E8-43B7-2066-5C3D-9C43DC833360}"/>
              </a:ext>
            </a:extLst>
          </p:cNvPr>
          <p:cNvPicPr>
            <a:picLocks noChangeAspect="1"/>
          </p:cNvPicPr>
          <p:nvPr/>
        </p:nvPicPr>
        <p:blipFill rotWithShape="1">
          <a:blip r:embed="rId2">
            <a:extLst>
              <a:ext uri="{28A0092B-C50C-407E-A947-70E740481C1C}">
                <a14:useLocalDpi xmlns:a14="http://schemas.microsoft.com/office/drawing/2010/main" val="0"/>
              </a:ext>
            </a:extLst>
          </a:blip>
          <a:srcRect l="9469" t="17642" r="9465" b="15503"/>
          <a:stretch/>
        </p:blipFill>
        <p:spPr>
          <a:xfrm>
            <a:off x="8469411" y="1622989"/>
            <a:ext cx="3722589" cy="3069961"/>
          </a:xfrm>
          <a:prstGeom prst="rect">
            <a:avLst/>
          </a:prstGeom>
        </p:spPr>
      </p:pic>
      <p:sp>
        <p:nvSpPr>
          <p:cNvPr id="14" name="TextBox 13">
            <a:extLst>
              <a:ext uri="{FF2B5EF4-FFF2-40B4-BE49-F238E27FC236}">
                <a16:creationId xmlns:a16="http://schemas.microsoft.com/office/drawing/2014/main" id="{D8623E07-8CC3-77CE-88ED-48189D0F88CC}"/>
              </a:ext>
            </a:extLst>
          </p:cNvPr>
          <p:cNvSpPr txBox="1"/>
          <p:nvPr/>
        </p:nvSpPr>
        <p:spPr>
          <a:xfrm>
            <a:off x="9243633" y="5066975"/>
            <a:ext cx="2397760" cy="584775"/>
          </a:xfrm>
          <a:prstGeom prst="rect">
            <a:avLst/>
          </a:prstGeom>
          <a:noFill/>
        </p:spPr>
        <p:txBody>
          <a:bodyPr wrap="square" rtlCol="0">
            <a:spAutoFit/>
          </a:bodyPr>
          <a:lstStyle/>
          <a:p>
            <a:r>
              <a:rPr lang="en-IN" sz="3200" b="1" i="1" dirty="0">
                <a:latin typeface="Times New Roman" panose="02020603050405020304" pitchFamily="18" charset="0"/>
                <a:cs typeface="Times New Roman" panose="02020603050405020304" pitchFamily="18" charset="0"/>
              </a:rPr>
              <a:t>3</a:t>
            </a:r>
            <a:r>
              <a:rPr lang="en-IN" sz="3200" b="1" dirty="0">
                <a:latin typeface="Times New Roman" panose="02020603050405020304" pitchFamily="18" charset="0"/>
                <a:cs typeface="Times New Roman" panose="02020603050405020304" pitchFamily="18" charset="0"/>
              </a:rPr>
              <a:t>) RFID Tag</a:t>
            </a:r>
          </a:p>
        </p:txBody>
      </p:sp>
      <p:sp>
        <p:nvSpPr>
          <p:cNvPr id="4" name="TextBox 3">
            <a:extLst>
              <a:ext uri="{FF2B5EF4-FFF2-40B4-BE49-F238E27FC236}">
                <a16:creationId xmlns:a16="http://schemas.microsoft.com/office/drawing/2014/main" id="{2A89C017-3643-1D93-2D5C-43E132822B19}"/>
              </a:ext>
            </a:extLst>
          </p:cNvPr>
          <p:cNvSpPr txBox="1"/>
          <p:nvPr/>
        </p:nvSpPr>
        <p:spPr>
          <a:xfrm>
            <a:off x="2328476" y="4442692"/>
            <a:ext cx="1654148" cy="369332"/>
          </a:xfrm>
          <a:prstGeom prst="rect">
            <a:avLst/>
          </a:prstGeom>
          <a:noFill/>
        </p:spPr>
        <p:txBody>
          <a:bodyPr wrap="square" rtlCol="0">
            <a:spAutoFit/>
          </a:bodyPr>
          <a:lstStyle/>
          <a:p>
            <a:r>
              <a:rPr lang="en-US" dirty="0"/>
              <a:t>s</a:t>
            </a:r>
            <a:endParaRPr lang="en-IN" dirty="0"/>
          </a:p>
        </p:txBody>
      </p:sp>
      <p:pic>
        <p:nvPicPr>
          <p:cNvPr id="1026" name="Picture 2" descr="ARDUINO UNO – TÁCTILPOS">
            <a:extLst>
              <a:ext uri="{FF2B5EF4-FFF2-40B4-BE49-F238E27FC236}">
                <a16:creationId xmlns:a16="http://schemas.microsoft.com/office/drawing/2014/main" id="{2B5EB701-5407-FF5A-E3A5-C6E4DE122A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629" y="2207881"/>
            <a:ext cx="3075075" cy="227744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FID TTL EM18 Reader Module at Rs 250/piece | Radio-frequency ...">
            <a:extLst>
              <a:ext uri="{FF2B5EF4-FFF2-40B4-BE49-F238E27FC236}">
                <a16:creationId xmlns:a16="http://schemas.microsoft.com/office/drawing/2014/main" id="{8DE059BC-5A0B-C158-7259-07D7DE5FE8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82624" y="1206251"/>
            <a:ext cx="3818848" cy="38188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57351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ABE445-5E74-2E73-704D-A7005AA5B31F}"/>
              </a:ext>
            </a:extLst>
          </p:cNvPr>
          <p:cNvPicPr>
            <a:picLocks noChangeAspect="1"/>
          </p:cNvPicPr>
          <p:nvPr/>
        </p:nvPicPr>
        <p:blipFill rotWithShape="1">
          <a:blip r:embed="rId2"/>
          <a:srcRect l="2013" t="1110" r="1511" b="908"/>
          <a:stretch/>
        </p:blipFill>
        <p:spPr>
          <a:xfrm>
            <a:off x="671498" y="479157"/>
            <a:ext cx="5690792" cy="4210174"/>
          </a:xfrm>
          <a:prstGeom prst="rect">
            <a:avLst/>
          </a:prstGeom>
        </p:spPr>
      </p:pic>
      <p:sp>
        <p:nvSpPr>
          <p:cNvPr id="9" name="TextBox 8">
            <a:extLst>
              <a:ext uri="{FF2B5EF4-FFF2-40B4-BE49-F238E27FC236}">
                <a16:creationId xmlns:a16="http://schemas.microsoft.com/office/drawing/2014/main" id="{901D4164-8AC9-25A6-4409-3CBBE77CAB57}"/>
              </a:ext>
            </a:extLst>
          </p:cNvPr>
          <p:cNvSpPr txBox="1"/>
          <p:nvPr/>
        </p:nvSpPr>
        <p:spPr>
          <a:xfrm>
            <a:off x="1472945" y="5357917"/>
            <a:ext cx="3966802" cy="646331"/>
          </a:xfrm>
          <a:prstGeom prst="rect">
            <a:avLst/>
          </a:prstGeom>
          <a:noFill/>
        </p:spPr>
        <p:txBody>
          <a:bodyPr wrap="square" rtlCol="0">
            <a:spAutoFit/>
          </a:bodyPr>
          <a:lstStyle/>
          <a:p>
            <a:r>
              <a:rPr lang="en-IN" sz="3600" b="1" dirty="0">
                <a:latin typeface="Times New Roman" panose="02020603050405020304" pitchFamily="18" charset="0"/>
                <a:cs typeface="Times New Roman" panose="02020603050405020304" pitchFamily="18" charset="0"/>
              </a:rPr>
              <a:t>4) LCD display </a:t>
            </a:r>
          </a:p>
        </p:txBody>
      </p:sp>
      <p:pic>
        <p:nvPicPr>
          <p:cNvPr id="11" name="Picture 10">
            <a:extLst>
              <a:ext uri="{FF2B5EF4-FFF2-40B4-BE49-F238E27FC236}">
                <a16:creationId xmlns:a16="http://schemas.microsoft.com/office/drawing/2014/main" id="{32F394A1-046E-57D5-C541-38A1D9BD63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5031" y="1122668"/>
            <a:ext cx="3591806" cy="3566663"/>
          </a:xfrm>
          <a:prstGeom prst="rect">
            <a:avLst/>
          </a:prstGeom>
        </p:spPr>
      </p:pic>
      <p:sp>
        <p:nvSpPr>
          <p:cNvPr id="12" name="TextBox 11">
            <a:extLst>
              <a:ext uri="{FF2B5EF4-FFF2-40B4-BE49-F238E27FC236}">
                <a16:creationId xmlns:a16="http://schemas.microsoft.com/office/drawing/2014/main" id="{4BBF1A6B-8EF7-14B1-831A-10F3C0B91ABF}"/>
              </a:ext>
            </a:extLst>
          </p:cNvPr>
          <p:cNvSpPr txBox="1"/>
          <p:nvPr/>
        </p:nvSpPr>
        <p:spPr>
          <a:xfrm>
            <a:off x="7142246" y="5357916"/>
            <a:ext cx="5049754" cy="646331"/>
          </a:xfrm>
          <a:prstGeom prst="rect">
            <a:avLst/>
          </a:prstGeom>
          <a:noFill/>
        </p:spPr>
        <p:txBody>
          <a:bodyPr wrap="square" rtlCol="0">
            <a:spAutoFit/>
          </a:bodyPr>
          <a:lstStyle/>
          <a:p>
            <a:r>
              <a:rPr lang="en-IN" sz="3600" b="1" dirty="0">
                <a:latin typeface="Times New Roman" panose="02020603050405020304" pitchFamily="18" charset="0"/>
                <a:cs typeface="Times New Roman" panose="02020603050405020304" pitchFamily="18" charset="0"/>
              </a:rPr>
              <a:t>5) Fingerprint sensor</a:t>
            </a:r>
          </a:p>
        </p:txBody>
      </p:sp>
    </p:spTree>
    <p:extLst>
      <p:ext uri="{BB962C8B-B14F-4D97-AF65-F5344CB8AC3E}">
        <p14:creationId xmlns:p14="http://schemas.microsoft.com/office/powerpoint/2010/main" val="860718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F9F8ED-51FF-A8FC-626B-A7AB761DD62E}"/>
              </a:ext>
            </a:extLst>
          </p:cNvPr>
          <p:cNvSpPr txBox="1"/>
          <p:nvPr/>
        </p:nvSpPr>
        <p:spPr>
          <a:xfrm>
            <a:off x="521111" y="85844"/>
            <a:ext cx="6096000" cy="923330"/>
          </a:xfrm>
          <a:prstGeom prst="rect">
            <a:avLst/>
          </a:prstGeom>
          <a:noFill/>
        </p:spPr>
        <p:txBody>
          <a:bodyPr wrap="square">
            <a:spAutoFit/>
          </a:bodyPr>
          <a:lstStyle/>
          <a:p>
            <a:r>
              <a:rPr lang="en-IN" sz="1800" b="1" i="1" dirty="0">
                <a:solidFill>
                  <a:srgbClr val="C00000"/>
                </a:solidFill>
                <a:latin typeface="Times New Roman" panose="02020603050405020304" pitchFamily="18" charset="0"/>
                <a:cs typeface="Times New Roman" pitchFamily="18" charset="0"/>
              </a:rPr>
              <a:t> </a:t>
            </a:r>
            <a:r>
              <a:rPr lang="en-IN" sz="3600" b="1" dirty="0">
                <a:solidFill>
                  <a:srgbClr val="C00000"/>
                </a:solidFill>
                <a:latin typeface="Times New Roman" panose="02020603050405020304" pitchFamily="18" charset="0"/>
                <a:cs typeface="Times New Roman" panose="02020603050405020304" pitchFamily="18" charset="0"/>
              </a:rPr>
              <a:t>Applications :</a:t>
            </a:r>
            <a:endParaRPr lang="en-IN" sz="3600" dirty="0">
              <a:latin typeface="Times New Roman" panose="02020603050405020304" pitchFamily="18" charset="0"/>
              <a:cs typeface="Times New Roman" panose="02020603050405020304" pitchFamily="18" charset="0"/>
            </a:endParaRPr>
          </a:p>
          <a:p>
            <a:endParaRPr lang="en-IN" sz="1800" i="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81EE6F4-B85A-D331-28E3-FD87286ACBF0}"/>
              </a:ext>
            </a:extLst>
          </p:cNvPr>
          <p:cNvSpPr txBox="1"/>
          <p:nvPr/>
        </p:nvSpPr>
        <p:spPr>
          <a:xfrm>
            <a:off x="589936" y="762952"/>
            <a:ext cx="4562168" cy="2246769"/>
          </a:xfrm>
          <a:prstGeom prst="rect">
            <a:avLst/>
          </a:prstGeom>
          <a:noFill/>
        </p:spPr>
        <p:txBody>
          <a:bodyPr wrap="square" rtlCol="0">
            <a:spAutoFit/>
          </a:bodyPr>
          <a:lstStyle/>
          <a:p>
            <a:pPr marL="342900" indent="-342900" algn="just">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TIA/teEIA-232-F  </a:t>
            </a:r>
          </a:p>
          <a:p>
            <a:pPr marL="342900" indent="-342900" algn="just">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Battery powered systems  </a:t>
            </a:r>
          </a:p>
          <a:p>
            <a:pPr marL="342900" indent="-342900" algn="just">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Terminals  </a:t>
            </a:r>
          </a:p>
          <a:p>
            <a:pPr marL="342900" indent="-342900" algn="just">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Modems </a:t>
            </a:r>
          </a:p>
          <a:p>
            <a:pPr marL="342900" indent="-342900" algn="just">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Computers</a:t>
            </a:r>
          </a:p>
        </p:txBody>
      </p:sp>
      <p:sp>
        <p:nvSpPr>
          <p:cNvPr id="6" name="TextBox 5">
            <a:extLst>
              <a:ext uri="{FF2B5EF4-FFF2-40B4-BE49-F238E27FC236}">
                <a16:creationId xmlns:a16="http://schemas.microsoft.com/office/drawing/2014/main" id="{E3481C9D-F158-34E5-A9F2-41F8E3009330}"/>
              </a:ext>
            </a:extLst>
          </p:cNvPr>
          <p:cNvSpPr txBox="1"/>
          <p:nvPr/>
        </p:nvSpPr>
        <p:spPr>
          <a:xfrm>
            <a:off x="521111" y="3009721"/>
            <a:ext cx="6096000" cy="646331"/>
          </a:xfrm>
          <a:prstGeom prst="rect">
            <a:avLst/>
          </a:prstGeom>
          <a:noFill/>
        </p:spPr>
        <p:txBody>
          <a:bodyPr wrap="square">
            <a:spAutoFit/>
          </a:bodyPr>
          <a:lstStyle/>
          <a:p>
            <a:pPr algn="just"/>
            <a:r>
              <a:rPr lang="en-IN" sz="3600" b="1" dirty="0">
                <a:solidFill>
                  <a:srgbClr val="C00000"/>
                </a:solidFill>
                <a:latin typeface="Times New Roman" panose="02020603050405020304" pitchFamily="18" charset="0"/>
                <a:cs typeface="Times New Roman" panose="02020603050405020304" pitchFamily="18" charset="0"/>
              </a:rPr>
              <a:t>Advantages:</a:t>
            </a:r>
            <a:endParaRPr lang="en-IN"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7BCDF4C-53CE-55CD-5124-243657AACD47}"/>
              </a:ext>
            </a:extLst>
          </p:cNvPr>
          <p:cNvSpPr txBox="1"/>
          <p:nvPr/>
        </p:nvSpPr>
        <p:spPr>
          <a:xfrm>
            <a:off x="521111" y="3663613"/>
            <a:ext cx="5894840" cy="3108543"/>
          </a:xfrm>
          <a:prstGeom prst="rect">
            <a:avLst/>
          </a:prstGeom>
          <a:noFill/>
        </p:spPr>
        <p:txBody>
          <a:bodyPr wrap="square" rtlCol="0">
            <a:spAutoFit/>
          </a:bodyPr>
          <a:lstStyle/>
          <a:p>
            <a:pPr marL="45720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reduces human effort and error</a:t>
            </a:r>
          </a:p>
          <a:p>
            <a:pPr marL="45720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All RFID tags will </a:t>
            </a:r>
            <a:r>
              <a:rPr lang="en-US" sz="2800" dirty="0" err="1">
                <a:latin typeface="Times New Roman" panose="02020603050405020304" pitchFamily="18" charset="0"/>
                <a:cs typeface="Times New Roman" panose="02020603050405020304" pitchFamily="18" charset="0"/>
              </a:rPr>
              <a:t>maches</a:t>
            </a:r>
            <a:r>
              <a:rPr lang="en-US" sz="2800" dirty="0">
                <a:latin typeface="Times New Roman" panose="02020603050405020304" pitchFamily="18" charset="0"/>
                <a:cs typeface="Times New Roman" panose="02020603050405020304" pitchFamily="18" charset="0"/>
              </a:rPr>
              <a:t>  within range can be detected instantly</a:t>
            </a:r>
          </a:p>
          <a:p>
            <a:pPr marL="45720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Larger area of coverage, Up to several feet.</a:t>
            </a:r>
          </a:p>
          <a:p>
            <a:pPr marL="45720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 RFID can be used in addition to Bar Code.</a:t>
            </a:r>
          </a:p>
        </p:txBody>
      </p:sp>
      <p:sp>
        <p:nvSpPr>
          <p:cNvPr id="11" name="TextBox 10">
            <a:extLst>
              <a:ext uri="{FF2B5EF4-FFF2-40B4-BE49-F238E27FC236}">
                <a16:creationId xmlns:a16="http://schemas.microsoft.com/office/drawing/2014/main" id="{1E13AA2D-3DD3-65B6-006F-7EDB50A706A7}"/>
              </a:ext>
            </a:extLst>
          </p:cNvPr>
          <p:cNvSpPr txBox="1"/>
          <p:nvPr/>
        </p:nvSpPr>
        <p:spPr>
          <a:xfrm>
            <a:off x="6096000" y="255121"/>
            <a:ext cx="6096000" cy="584775"/>
          </a:xfrm>
          <a:prstGeom prst="rect">
            <a:avLst/>
          </a:prstGeom>
          <a:noFill/>
        </p:spPr>
        <p:txBody>
          <a:bodyPr wrap="square">
            <a:spAutoFit/>
          </a:bodyPr>
          <a:lstStyle/>
          <a:p>
            <a:pPr algn="just"/>
            <a:r>
              <a:rPr lang="en-US" sz="3200" b="1" dirty="0">
                <a:solidFill>
                  <a:srgbClr val="C00000"/>
                </a:solidFill>
                <a:latin typeface="Times New Roman" panose="02020603050405020304" pitchFamily="18" charset="0"/>
                <a:cs typeface="Times New Roman" panose="02020603050405020304" pitchFamily="18" charset="0"/>
              </a:rPr>
              <a:t>D</a:t>
            </a:r>
            <a:r>
              <a:rPr lang="en-IN" sz="3200" b="1" dirty="0">
                <a:solidFill>
                  <a:srgbClr val="C00000"/>
                </a:solidFill>
                <a:latin typeface="Times New Roman" panose="02020603050405020304" pitchFamily="18" charset="0"/>
                <a:cs typeface="Times New Roman" panose="02020603050405020304" pitchFamily="18" charset="0"/>
              </a:rPr>
              <a:t>isadvantages:</a:t>
            </a:r>
            <a:endParaRPr lang="en-IN"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D0BEA9DA-44EC-E721-E2CE-A683FE2426E0}"/>
              </a:ext>
            </a:extLst>
          </p:cNvPr>
          <p:cNvSpPr txBox="1"/>
          <p:nvPr/>
        </p:nvSpPr>
        <p:spPr>
          <a:xfrm>
            <a:off x="5948517" y="1120676"/>
            <a:ext cx="5545393" cy="3108543"/>
          </a:xfrm>
          <a:prstGeom prst="rect">
            <a:avLst/>
          </a:prstGeom>
          <a:noFill/>
        </p:spPr>
        <p:txBody>
          <a:bodyPr wrap="square" rtlCol="0">
            <a:spAutoFit/>
          </a:bodyPr>
          <a:lstStyle/>
          <a:p>
            <a:pPr marL="342900" indent="-3429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Active RFID is costly due to use of batteries. </a:t>
            </a:r>
          </a:p>
          <a:p>
            <a:pPr marL="342900" indent="-3429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Coverage range of RFID is limited which is about 3 meters.</a:t>
            </a:r>
          </a:p>
          <a:p>
            <a:pPr marL="342900" indent="-3429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RFID devices need to be programmed which requires enough amount of time</a:t>
            </a: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30433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641A17-EB39-F43B-4C1A-46082050F1E6}"/>
              </a:ext>
            </a:extLst>
          </p:cNvPr>
          <p:cNvSpPr txBox="1"/>
          <p:nvPr/>
        </p:nvSpPr>
        <p:spPr>
          <a:xfrm>
            <a:off x="105093" y="-83976"/>
            <a:ext cx="4768646" cy="830997"/>
          </a:xfrm>
          <a:prstGeom prst="rect">
            <a:avLst/>
          </a:prstGeom>
          <a:noFill/>
        </p:spPr>
        <p:txBody>
          <a:bodyPr wrap="square" rtlCol="0">
            <a:spAutoFit/>
          </a:bodyPr>
          <a:lstStyle/>
          <a:p>
            <a:r>
              <a:rPr lang="en-US" sz="4800" b="1" dirty="0">
                <a:solidFill>
                  <a:srgbClr val="C00000"/>
                </a:solidFill>
                <a:latin typeface="Times New Roman" panose="02020603050405020304" pitchFamily="18" charset="0"/>
                <a:cs typeface="Times New Roman" panose="02020603050405020304" pitchFamily="18" charset="0"/>
              </a:rPr>
              <a:t>References</a:t>
            </a:r>
            <a:r>
              <a:rPr lang="en-IN" sz="4800" b="1" dirty="0">
                <a:solidFill>
                  <a:srgbClr val="C00000"/>
                </a:solidFill>
                <a:latin typeface="Times New Roman" panose="02020603050405020304" pitchFamily="18" charset="0"/>
                <a:cs typeface="Times New Roman" panose="02020603050405020304" pitchFamily="18" charset="0"/>
              </a:rPr>
              <a:t>:-</a:t>
            </a:r>
            <a:endParaRPr lang="en-IN" sz="48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EE1F8257-8E99-4897-A592-E4D732EB1558}"/>
              </a:ext>
            </a:extLst>
          </p:cNvPr>
          <p:cNvSpPr txBox="1"/>
          <p:nvPr/>
        </p:nvSpPr>
        <p:spPr>
          <a:xfrm>
            <a:off x="192506" y="833286"/>
            <a:ext cx="11806988" cy="5632311"/>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[1] RFID Sens Net Lab “ A white paper on Automatic Attendance System” Texas A &amp; M University, Texas, USA, 2005. </a:t>
            </a:r>
          </a:p>
          <a:p>
            <a:pPr algn="just"/>
            <a:r>
              <a:rPr lang="en-IN" sz="2400" dirty="0">
                <a:latin typeface="Times New Roman" panose="02020603050405020304" pitchFamily="18" charset="0"/>
                <a:cs typeface="Times New Roman" panose="02020603050405020304" pitchFamily="18" charset="0"/>
              </a:rPr>
              <a:t>[2] Z. youngling, L. Ji “The Design of Wireless Fingerprint Attendance System” International Conference on Communication Technology, ICCT '06, Handan, Hebei, China, 27-30 November 2006, pp. 1-4, 2006.</a:t>
            </a:r>
          </a:p>
          <a:p>
            <a:pPr algn="just"/>
            <a:r>
              <a:rPr lang="en-US" sz="2400" dirty="0">
                <a:latin typeface="Times New Roman" panose="02020603050405020304" pitchFamily="18" charset="0"/>
                <a:cs typeface="Times New Roman" panose="02020603050405020304" pitchFamily="18" charset="0"/>
              </a:rPr>
              <a:t>[3] RFID Sens Net Lab “ A white paper on Automatic Attendance System” Texas A &amp; M University, Texas, USA, 2005.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[4] Mohmmed A.B, Abdel-Hamid A and Mohammed K.Y,” Implementation of   an improved secure system detection for E password by using EPC RFID tags”, World Academy of Science and technology Journal, Volume 6, ppl-5,2009.</a:t>
            </a:r>
          </a:p>
          <a:p>
            <a:pPr algn="just"/>
            <a:r>
              <a:rPr lang="en-US" sz="2400" dirty="0">
                <a:latin typeface="Times New Roman" panose="02020603050405020304" pitchFamily="18" charset="0"/>
                <a:cs typeface="Times New Roman" panose="02020603050405020304" pitchFamily="18" charset="0"/>
              </a:rPr>
              <a:t>[5] Nambir A.N,” A supply chain perspective of RFID Systems”, World Academy of science, Engineering and Technology Journal, Volume 6, ppl-5,2009. </a:t>
            </a:r>
          </a:p>
          <a:p>
            <a:pPr algn="just"/>
            <a:r>
              <a:rPr lang="en-US" sz="2400" dirty="0">
                <a:latin typeface="Times New Roman" panose="02020603050405020304" pitchFamily="18" charset="0"/>
                <a:cs typeface="Times New Roman" panose="02020603050405020304" pitchFamily="18" charset="0"/>
              </a:rPr>
              <a:t>[6] Liu C.M and Chen L. “Applications of RFID Technology for improving production efficiency in an Integrated circuit packaging house”, International Journal of Production Research, Vol 47, no. 8, pp. 2203-2216, 2009.</a:t>
            </a:r>
          </a:p>
        </p:txBody>
      </p:sp>
    </p:spTree>
    <p:extLst>
      <p:ext uri="{BB962C8B-B14F-4D97-AF65-F5344CB8AC3E}">
        <p14:creationId xmlns:p14="http://schemas.microsoft.com/office/powerpoint/2010/main" val="6440358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75E2A1-AF89-0E40-AE32-7D539F8C13AA}"/>
              </a:ext>
            </a:extLst>
          </p:cNvPr>
          <p:cNvSpPr txBox="1"/>
          <p:nvPr/>
        </p:nvSpPr>
        <p:spPr>
          <a:xfrm>
            <a:off x="121298" y="615820"/>
            <a:ext cx="11949404" cy="5262979"/>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[7] Mohmmed A.B, Abdel-Hamid A and Mohammed K.Y,” Implementation of   an improved secure system detection for E password by using EPC RFID tags”, World Academy of Science and technology Journal, Volume 6, ppl-5,2009.</a:t>
            </a:r>
          </a:p>
          <a:p>
            <a:pPr algn="just"/>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[8] S. Martin', R. Gil', J. Bravo2, R. Hervas2, M. Castro', J. Peir' “Increasing throughput and personalizing the examination process in universities using RFID “, Electrical and Computer Engineering Department Spanish University for Distance Education (UNED). </a:t>
            </a:r>
          </a:p>
          <a:p>
            <a:pPr algn="just"/>
            <a:endParaRPr lang="en-US" sz="2400" dirty="0">
              <a:latin typeface="Times New Roman" panose="02020603050405020304" pitchFamily="18" charset="0"/>
              <a:cs typeface="Times New Roman" panose="02020603050405020304" pitchFamily="18" charset="0"/>
            </a:endParaRPr>
          </a:p>
          <a:p>
            <a:pPr algn="just"/>
            <a:r>
              <a:rPr lang="en-IN" sz="2400" b="0" i="0" dirty="0">
                <a:solidFill>
                  <a:srgbClr val="212529"/>
                </a:solidFill>
                <a:effectLst/>
                <a:highlight>
                  <a:srgbClr val="FFFFFF"/>
                </a:highlight>
                <a:latin typeface="Times New Roman" panose="02020603050405020304" pitchFamily="18" charset="0"/>
                <a:cs typeface="Times New Roman" panose="02020603050405020304" pitchFamily="18" charset="0"/>
              </a:rPr>
              <a:t>[9] M. </a:t>
            </a:r>
            <a:r>
              <a:rPr lang="en-IN" sz="2400" b="0" i="0" dirty="0" err="1">
                <a:solidFill>
                  <a:srgbClr val="212529"/>
                </a:solidFill>
                <a:effectLst/>
                <a:highlight>
                  <a:srgbClr val="FFFFFF"/>
                </a:highlight>
                <a:latin typeface="Times New Roman" panose="02020603050405020304" pitchFamily="18" charset="0"/>
                <a:cs typeface="Times New Roman" panose="02020603050405020304" pitchFamily="18" charset="0"/>
              </a:rPr>
              <a:t>Brandl</a:t>
            </a:r>
            <a:r>
              <a:rPr lang="en-IN" sz="2400" b="0" i="0" dirty="0">
                <a:solidFill>
                  <a:srgbClr val="212529"/>
                </a:solidFill>
                <a:effectLst/>
                <a:highlight>
                  <a:srgbClr val="FFFFFF"/>
                </a:highlight>
                <a:latin typeface="Times New Roman" panose="02020603050405020304" pitchFamily="18" charset="0"/>
                <a:cs typeface="Times New Roman" panose="02020603050405020304" pitchFamily="18" charset="0"/>
              </a:rPr>
              <a:t>, J. </a:t>
            </a:r>
            <a:r>
              <a:rPr lang="en-IN" sz="2400" b="0" i="0" dirty="0" err="1">
                <a:solidFill>
                  <a:srgbClr val="212529"/>
                </a:solidFill>
                <a:effectLst/>
                <a:highlight>
                  <a:srgbClr val="FFFFFF"/>
                </a:highlight>
                <a:latin typeface="Times New Roman" panose="02020603050405020304" pitchFamily="18" charset="0"/>
                <a:cs typeface="Times New Roman" panose="02020603050405020304" pitchFamily="18" charset="0"/>
              </a:rPr>
              <a:t>Grabner</a:t>
            </a:r>
            <a:r>
              <a:rPr lang="en-IN" sz="2400" b="0" i="0" dirty="0">
                <a:solidFill>
                  <a:srgbClr val="212529"/>
                </a:solidFill>
                <a:effectLst/>
                <a:highlight>
                  <a:srgbClr val="FFFFFF"/>
                </a:highlight>
                <a:latin typeface="Times New Roman" panose="02020603050405020304" pitchFamily="18" charset="0"/>
                <a:cs typeface="Times New Roman" panose="02020603050405020304" pitchFamily="18" charset="0"/>
              </a:rPr>
              <a:t>, K. Kellner, F. Seifert, J. </a:t>
            </a:r>
            <a:r>
              <a:rPr lang="en-IN" sz="2400" b="0" i="0" dirty="0" err="1">
                <a:solidFill>
                  <a:srgbClr val="212529"/>
                </a:solidFill>
                <a:effectLst/>
                <a:highlight>
                  <a:srgbClr val="FFFFFF"/>
                </a:highlight>
                <a:latin typeface="Times New Roman" panose="02020603050405020304" pitchFamily="18" charset="0"/>
                <a:cs typeface="Times New Roman" panose="02020603050405020304" pitchFamily="18" charset="0"/>
              </a:rPr>
              <a:t>Nicolics</a:t>
            </a:r>
            <a:r>
              <a:rPr lang="en-IN" sz="2400" b="0" i="0" dirty="0">
                <a:solidFill>
                  <a:srgbClr val="212529"/>
                </a:solidFill>
                <a:effectLst/>
                <a:highlight>
                  <a:srgbClr val="FFFFFF"/>
                </a:highlight>
                <a:latin typeface="Times New Roman" panose="02020603050405020304" pitchFamily="18" charset="0"/>
                <a:cs typeface="Times New Roman" panose="02020603050405020304" pitchFamily="18" charset="0"/>
              </a:rPr>
              <a:t>, S. </a:t>
            </a:r>
            <a:r>
              <a:rPr lang="en-IN" sz="2400" b="0" i="0" dirty="0" err="1">
                <a:solidFill>
                  <a:srgbClr val="212529"/>
                </a:solidFill>
                <a:effectLst/>
                <a:highlight>
                  <a:srgbClr val="FFFFFF"/>
                </a:highlight>
                <a:latin typeface="Times New Roman" panose="02020603050405020304" pitchFamily="18" charset="0"/>
                <a:cs typeface="Times New Roman" panose="02020603050405020304" pitchFamily="18" charset="0"/>
              </a:rPr>
              <a:t>Grabner</a:t>
            </a:r>
            <a:r>
              <a:rPr lang="en-IN" sz="2400" b="0" i="0" dirty="0">
                <a:solidFill>
                  <a:srgbClr val="212529"/>
                </a:solidFill>
                <a:effectLst/>
                <a:highlight>
                  <a:srgbClr val="FFFFFF"/>
                </a:highlight>
                <a:latin typeface="Times New Roman" panose="02020603050405020304" pitchFamily="18" charset="0"/>
                <a:cs typeface="Times New Roman" panose="02020603050405020304" pitchFamily="18" charset="0"/>
              </a:rPr>
              <a:t>, and G. </a:t>
            </a:r>
            <a:r>
              <a:rPr lang="en-IN" sz="2400" b="0" i="0" dirty="0" err="1">
                <a:solidFill>
                  <a:srgbClr val="212529"/>
                </a:solidFill>
                <a:effectLst/>
                <a:highlight>
                  <a:srgbClr val="FFFFFF"/>
                </a:highlight>
                <a:latin typeface="Times New Roman" panose="02020603050405020304" pitchFamily="18" charset="0"/>
                <a:cs typeface="Times New Roman" panose="02020603050405020304" pitchFamily="18" charset="0"/>
              </a:rPr>
              <a:t>Grabner</a:t>
            </a:r>
            <a:r>
              <a:rPr lang="en-IN" sz="2400" b="0" i="0" dirty="0">
                <a:solidFill>
                  <a:srgbClr val="212529"/>
                </a:solidFill>
                <a:effectLst/>
                <a:highlight>
                  <a:srgbClr val="FFFFFF"/>
                </a:highlight>
                <a:latin typeface="Times New Roman" panose="02020603050405020304" pitchFamily="18" charset="0"/>
                <a:cs typeface="Times New Roman" panose="02020603050405020304" pitchFamily="18" charset="0"/>
              </a:rPr>
              <a:t>, "A low-cost wireless sensor system and its application in dental retainers," IEEE Sensors Journal, vol. 9, no. 3, pp. 255-262, 2009.</a:t>
            </a:r>
          </a:p>
          <a:p>
            <a:pPr algn="just"/>
            <a:endParaRPr lang="en-IN" sz="2400" b="0" i="0" dirty="0">
              <a:solidFill>
                <a:srgbClr val="212529"/>
              </a:solidFill>
              <a:effectLst/>
              <a:highlight>
                <a:srgbClr val="FFFFFF"/>
              </a:highlight>
              <a:latin typeface="Times New Roman" panose="02020603050405020304" pitchFamily="18" charset="0"/>
              <a:cs typeface="Times New Roman" panose="02020603050405020304" pitchFamily="18" charset="0"/>
            </a:endParaRPr>
          </a:p>
          <a:p>
            <a:pPr algn="just"/>
            <a:r>
              <a:rPr lang="en-US" sz="2400" b="0" i="0" dirty="0">
                <a:solidFill>
                  <a:srgbClr val="212529"/>
                </a:solidFill>
                <a:effectLst/>
                <a:highlight>
                  <a:srgbClr val="FFFFFF"/>
                </a:highlight>
                <a:latin typeface="Times New Roman" panose="02020603050405020304" pitchFamily="18" charset="0"/>
                <a:cs typeface="Times New Roman" panose="02020603050405020304" pitchFamily="18" charset="0"/>
              </a:rPr>
              <a:t>[10] Y.-J. Tu, W. Zhou, and S. </a:t>
            </a:r>
            <a:r>
              <a:rPr lang="en-US" sz="2400" b="0" i="0" dirty="0" err="1">
                <a:solidFill>
                  <a:srgbClr val="212529"/>
                </a:solidFill>
                <a:effectLst/>
                <a:highlight>
                  <a:srgbClr val="FFFFFF"/>
                </a:highlight>
                <a:latin typeface="Times New Roman" panose="02020603050405020304" pitchFamily="18" charset="0"/>
                <a:cs typeface="Times New Roman" panose="02020603050405020304" pitchFamily="18" charset="0"/>
              </a:rPr>
              <a:t>Piramuthu</a:t>
            </a:r>
            <a:r>
              <a:rPr lang="en-US" sz="2400" b="0" i="0" dirty="0">
                <a:solidFill>
                  <a:srgbClr val="212529"/>
                </a:solidFill>
                <a:effectLst/>
                <a:highlight>
                  <a:srgbClr val="FFFFFF"/>
                </a:highlight>
                <a:latin typeface="Times New Roman" panose="02020603050405020304" pitchFamily="18" charset="0"/>
                <a:cs typeface="Times New Roman" panose="02020603050405020304" pitchFamily="18" charset="0"/>
              </a:rPr>
              <a:t>, "Identifying </a:t>
            </a:r>
            <a:r>
              <a:rPr lang="en-US" sz="2400" b="0" i="0" dirty="0" err="1">
                <a:solidFill>
                  <a:srgbClr val="212529"/>
                </a:solidFill>
                <a:effectLst/>
                <a:highlight>
                  <a:srgbClr val="FFFFFF"/>
                </a:highlight>
                <a:latin typeface="Times New Roman" panose="02020603050405020304" pitchFamily="18" charset="0"/>
                <a:cs typeface="Times New Roman" panose="02020603050405020304" pitchFamily="18" charset="0"/>
              </a:rPr>
              <a:t>rfid</a:t>
            </a:r>
            <a:r>
              <a:rPr lang="en-US" sz="2400" b="0" i="0" dirty="0">
                <a:solidFill>
                  <a:srgbClr val="212529"/>
                </a:solidFill>
                <a:effectLst/>
                <a:highlight>
                  <a:srgbClr val="FFFFFF"/>
                </a:highlight>
                <a:latin typeface="Times New Roman" panose="02020603050405020304" pitchFamily="18" charset="0"/>
                <a:cs typeface="Times New Roman" panose="02020603050405020304" pitchFamily="18" charset="0"/>
              </a:rPr>
              <a:t>-embedded objects in pervasive healthcare applications," Decision Support Systems, vol. 46, no. 2, pp. 586-593, 2009.</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87015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27+ Templates For Powerpoint Aesthetic Pics">
            <a:extLst>
              <a:ext uri="{FF2B5EF4-FFF2-40B4-BE49-F238E27FC236}">
                <a16:creationId xmlns:a16="http://schemas.microsoft.com/office/drawing/2014/main" id="{AD57CF73-04A8-C380-E088-9E77D10E5E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4BDD8B1-2648-F9CE-F29B-91AFE972E32A}"/>
              </a:ext>
            </a:extLst>
          </p:cNvPr>
          <p:cNvSpPr txBox="1"/>
          <p:nvPr/>
        </p:nvSpPr>
        <p:spPr>
          <a:xfrm>
            <a:off x="830425" y="1016817"/>
            <a:ext cx="10848392" cy="4825745"/>
          </a:xfrm>
          <a:prstGeom prst="rect">
            <a:avLst/>
          </a:prstGeom>
          <a:noFill/>
        </p:spPr>
        <p:txBody>
          <a:bodyPr wrap="square">
            <a:spAutoFit/>
          </a:bodyPr>
          <a:lstStyle/>
          <a:p>
            <a:pPr>
              <a:lnSpc>
                <a:spcPct val="115000"/>
              </a:lnSpc>
              <a:spcAft>
                <a:spcPts val="800"/>
              </a:spcAft>
            </a:pPr>
            <a:r>
              <a:rPr lang="en-IN" sz="28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FINAL RESULT:</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indent="457200">
              <a:lnSpc>
                <a:spcPct val="115000"/>
              </a:lnSpc>
              <a:spcAft>
                <a:spcPts val="800"/>
              </a:spcAft>
            </a:pPr>
            <a:r>
              <a:rPr lang="en-IN" sz="24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We have tried by using different components.</a:t>
            </a:r>
            <a:endParaRPr lang="en-IN" sz="2000" kern="100" dirty="0">
              <a:latin typeface="Calibri" panose="020F0502020204030204" pitchFamily="34" charset="0"/>
              <a:ea typeface="Calibri" panose="020F0502020204030204" pitchFamily="34" charset="0"/>
              <a:cs typeface="Times New Roman" panose="02020603050405020304" pitchFamily="18" charset="0"/>
            </a:endParaRPr>
          </a:p>
          <a:p>
            <a:pPr indent="457200">
              <a:lnSpc>
                <a:spcPct val="115000"/>
              </a:lnSpc>
              <a:spcAft>
                <a:spcPts val="800"/>
              </a:spcAft>
            </a:pPr>
            <a:r>
              <a:rPr lang="en-IN" sz="24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IMPLEMENTATION 1:</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15000"/>
              </a:lnSpc>
              <a:spcAft>
                <a:spcPts val="800"/>
              </a:spcAft>
            </a:pPr>
            <a:r>
              <a:rPr lang="en-IN" sz="24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First our project is about RFID AND FINGERPRINT BASED EXAMINATION ROOM IDENTIFICATION. Let us go for the  implementation -1. For this first we have to </a:t>
            </a:r>
            <a:r>
              <a:rPr lang="en-IN" sz="2400" kern="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enroll</a:t>
            </a:r>
            <a:r>
              <a:rPr lang="en-IN" sz="24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our fingerprints in the fingerprint module by using the SFG software.</a:t>
            </a:r>
          </a:p>
          <a:p>
            <a:pPr indent="457200" algn="just">
              <a:lnSpc>
                <a:spcPct val="115000"/>
              </a:lnSpc>
              <a:spcAft>
                <a:spcPts val="800"/>
              </a:spcAft>
            </a:pP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IN" sz="24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1.Say for example let us take person-1 if he keeps his finger on the fingerprint module then  we can see “FINGERPRINT SUCCESSFUL SHOW RFID TAG” on the LCD display.</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483567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F70048B-AFF2-B11E-14BC-7CDD7CBA1E8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548211" y="314016"/>
            <a:ext cx="11095577" cy="5402740"/>
          </a:xfrm>
          <a:prstGeom prst="rect">
            <a:avLst/>
          </a:prstGeom>
          <a:noFill/>
          <a:ln>
            <a:noFill/>
          </a:ln>
        </p:spPr>
      </p:pic>
      <p:sp>
        <p:nvSpPr>
          <p:cNvPr id="5" name="TextBox 4">
            <a:extLst>
              <a:ext uri="{FF2B5EF4-FFF2-40B4-BE49-F238E27FC236}">
                <a16:creationId xmlns:a16="http://schemas.microsoft.com/office/drawing/2014/main" id="{E63B9547-E862-CFF4-3381-D8E22D0EDBC8}"/>
              </a:ext>
            </a:extLst>
          </p:cNvPr>
          <p:cNvSpPr txBox="1"/>
          <p:nvPr/>
        </p:nvSpPr>
        <p:spPr>
          <a:xfrm>
            <a:off x="4609324" y="5959209"/>
            <a:ext cx="6260840" cy="584775"/>
          </a:xfrm>
          <a:prstGeom prst="rect">
            <a:avLst/>
          </a:prstGeom>
          <a:noFill/>
        </p:spPr>
        <p:txBody>
          <a:bodyPr wrap="square" rtlCol="0">
            <a:spAutoFit/>
          </a:bodyPr>
          <a:lstStyle/>
          <a:p>
            <a:r>
              <a:rPr lang="en-US" sz="3200" b="1" dirty="0"/>
              <a:t>Step 1 - Result </a:t>
            </a:r>
            <a:endParaRPr lang="en-IN" sz="3200" b="1" dirty="0"/>
          </a:p>
        </p:txBody>
      </p:sp>
    </p:spTree>
    <p:extLst>
      <p:ext uri="{BB962C8B-B14F-4D97-AF65-F5344CB8AC3E}">
        <p14:creationId xmlns:p14="http://schemas.microsoft.com/office/powerpoint/2010/main" val="37770094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27+ Templates For Powerpoint Aesthetic Pics">
            <a:extLst>
              <a:ext uri="{FF2B5EF4-FFF2-40B4-BE49-F238E27FC236}">
                <a16:creationId xmlns:a16="http://schemas.microsoft.com/office/drawing/2014/main" id="{278410B1-CF05-9401-7083-386E1CA0F9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BAB60C3-EC5A-D233-443F-C048DC6FE0A4}"/>
              </a:ext>
            </a:extLst>
          </p:cNvPr>
          <p:cNvSpPr txBox="1"/>
          <p:nvPr/>
        </p:nvSpPr>
        <p:spPr>
          <a:xfrm>
            <a:off x="1278294" y="1271614"/>
            <a:ext cx="9050693" cy="4225837"/>
          </a:xfrm>
          <a:prstGeom prst="rect">
            <a:avLst/>
          </a:prstGeom>
          <a:noFill/>
        </p:spPr>
        <p:txBody>
          <a:bodyPr wrap="square">
            <a:spAutoFit/>
          </a:bodyPr>
          <a:lstStyle/>
          <a:p>
            <a:pPr marR="107950">
              <a:lnSpc>
                <a:spcPct val="115000"/>
              </a:lnSpc>
              <a:spcAft>
                <a:spcPts val="800"/>
              </a:spcAft>
            </a:pPr>
            <a:r>
              <a:rPr lang="en-IN" sz="3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 Next we need to show the RFID tag , this tag is scanned by the RFID reader module .</a:t>
            </a:r>
          </a:p>
          <a:p>
            <a:pPr marL="457200" marR="107950" indent="-457200">
              <a:lnSpc>
                <a:spcPct val="115000"/>
              </a:lnSpc>
              <a:spcAft>
                <a:spcPts val="800"/>
              </a:spcAft>
              <a:buFont typeface="Wingdings" panose="05000000000000000000" pitchFamily="2" charset="2"/>
              <a:buChar char="Ø"/>
            </a:pPr>
            <a:r>
              <a:rPr lang="en-IN" sz="3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Then we can observe the first person details (NAME, HALL TICKET ,BRANCH, BLOCK, ROOM N</a:t>
            </a:r>
            <a:r>
              <a:rPr lang="en-IN" sz="320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UMBER</a:t>
            </a:r>
            <a:r>
              <a:rPr lang="en-IN" sz="3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p>
          <a:p>
            <a:pPr marL="457200" marR="107950" indent="-457200">
              <a:lnSpc>
                <a:spcPct val="115000"/>
              </a:lnSpc>
              <a:spcAft>
                <a:spcPts val="800"/>
              </a:spcAft>
              <a:buFont typeface="Wingdings" panose="05000000000000000000" pitchFamily="2" charset="2"/>
              <a:buChar char="Ø"/>
            </a:pPr>
            <a:r>
              <a:rPr lang="en-IN" sz="3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the same time if we observe the green LED  will glow. We can see the output below.</a:t>
            </a:r>
            <a:r>
              <a:rPr lang="en-IN" sz="32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040018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94D41C6-93B9-0748-FFDA-EBABBAC05546}"/>
              </a:ext>
            </a:extLst>
          </p:cNvPr>
          <p:cNvPicPr>
            <a:picLocks noChangeAspect="1"/>
          </p:cNvPicPr>
          <p:nvPr/>
        </p:nvPicPr>
        <p:blipFill>
          <a:blip r:embed="rId2" cstate="print">
            <a:extLst>
              <a:ext uri="{28A0092B-C50C-407E-A947-70E740481C1C}">
                <a14:useLocalDpi xmlns:a14="http://schemas.microsoft.com/office/drawing/2010/main" val="0"/>
              </a:ext>
            </a:extLst>
          </a:blip>
          <a:srcRect t="509" b="-509"/>
          <a:stretch>
            <a:fillRect/>
          </a:stretch>
        </p:blipFill>
        <p:spPr>
          <a:xfrm>
            <a:off x="490490" y="156102"/>
            <a:ext cx="11211020" cy="5640152"/>
          </a:xfrm>
          <a:prstGeom prst="rect">
            <a:avLst/>
          </a:prstGeom>
          <a:noFill/>
          <a:ln>
            <a:noFill/>
          </a:ln>
        </p:spPr>
      </p:pic>
      <p:sp>
        <p:nvSpPr>
          <p:cNvPr id="5" name="TextBox 4">
            <a:extLst>
              <a:ext uri="{FF2B5EF4-FFF2-40B4-BE49-F238E27FC236}">
                <a16:creationId xmlns:a16="http://schemas.microsoft.com/office/drawing/2014/main" id="{0D017D7E-CF3E-8906-7BA9-2062008CAE33}"/>
              </a:ext>
            </a:extLst>
          </p:cNvPr>
          <p:cNvSpPr txBox="1"/>
          <p:nvPr/>
        </p:nvSpPr>
        <p:spPr>
          <a:xfrm>
            <a:off x="4590662" y="5973536"/>
            <a:ext cx="7436498" cy="646331"/>
          </a:xfrm>
          <a:prstGeom prst="rect">
            <a:avLst/>
          </a:prstGeom>
          <a:noFill/>
        </p:spPr>
        <p:txBody>
          <a:bodyPr wrap="square" rtlCol="0">
            <a:spAutoFit/>
          </a:bodyPr>
          <a:lstStyle/>
          <a:p>
            <a:r>
              <a:rPr lang="en-US" sz="3600" b="1" dirty="0"/>
              <a:t>Step 2 - Result </a:t>
            </a:r>
            <a:endParaRPr lang="en-IN" sz="3600" b="1" dirty="0"/>
          </a:p>
        </p:txBody>
      </p:sp>
    </p:spTree>
    <p:extLst>
      <p:ext uri="{BB962C8B-B14F-4D97-AF65-F5344CB8AC3E}">
        <p14:creationId xmlns:p14="http://schemas.microsoft.com/office/powerpoint/2010/main" val="18885193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4" name="Picture 8" descr="27+ Templates For Powerpoint Aesthetic Pics">
            <a:extLst>
              <a:ext uri="{FF2B5EF4-FFF2-40B4-BE49-F238E27FC236}">
                <a16:creationId xmlns:a16="http://schemas.microsoft.com/office/drawing/2014/main" id="{8AD8DAB5-27B2-715E-096D-AA81A755C1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799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307554E5-881A-E9DE-CB2A-4832AF7E2808}"/>
              </a:ext>
            </a:extLst>
          </p:cNvPr>
          <p:cNvSpPr txBox="1"/>
          <p:nvPr/>
        </p:nvSpPr>
        <p:spPr>
          <a:xfrm>
            <a:off x="917509" y="0"/>
            <a:ext cx="10643119" cy="5800562"/>
          </a:xfrm>
          <a:prstGeom prst="rect">
            <a:avLst/>
          </a:prstGeom>
          <a:noFill/>
        </p:spPr>
        <p:txBody>
          <a:bodyPr wrap="square">
            <a:spAutoFit/>
          </a:bodyPr>
          <a:lstStyle/>
          <a:p>
            <a:pPr>
              <a:lnSpc>
                <a:spcPct val="115000"/>
              </a:lnSpc>
              <a:spcAft>
                <a:spcPts val="800"/>
              </a:spcAft>
            </a:pPr>
            <a:r>
              <a:rPr lang="en-IN" sz="32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IN" sz="32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IMPLEMENTATION 2 :</a:t>
            </a:r>
            <a:endParaRPr lang="en-IN" sz="3200" dirty="0">
              <a:solidFill>
                <a:srgbClr val="000000"/>
              </a:solidFill>
              <a:effectLst/>
              <a:latin typeface="Times New Roman" panose="02020603050405020304" pitchFamily="18" charset="0"/>
              <a:ea typeface="Times New Roman" panose="02020603050405020304" pitchFamily="18" charset="0"/>
            </a:endParaRPr>
          </a:p>
          <a:p>
            <a:endParaRPr lang="en-IN" sz="3200" dirty="0">
              <a:solidFill>
                <a:srgbClr val="000000"/>
              </a:solidFill>
              <a:latin typeface="Times New Roman" panose="02020603050405020304" pitchFamily="18" charset="0"/>
              <a:ea typeface="Times New Roman" panose="02020603050405020304" pitchFamily="18" charset="0"/>
            </a:endParaRPr>
          </a:p>
          <a:p>
            <a:pPr marL="457200" indent="-457200">
              <a:buFont typeface="Wingdings" panose="05000000000000000000" pitchFamily="2" charset="2"/>
              <a:buChar char="Ø"/>
            </a:pPr>
            <a:r>
              <a:rPr lang="en-IN" sz="2800" dirty="0">
                <a:solidFill>
                  <a:srgbClr val="000000"/>
                </a:solidFill>
                <a:effectLst/>
                <a:latin typeface="Times New Roman" panose="02020603050405020304" pitchFamily="18" charset="0"/>
                <a:ea typeface="Times New Roman" panose="02020603050405020304" pitchFamily="18" charset="0"/>
              </a:rPr>
              <a:t>Let us take  another scenario</a:t>
            </a:r>
            <a:r>
              <a:rPr lang="en-IN" sz="2800" kern="100" dirty="0">
                <a:solidFill>
                  <a:srgbClr val="000000"/>
                </a:solidFill>
                <a:effectLst/>
                <a:latin typeface="Times New Roman" panose="02020603050405020304" pitchFamily="18" charset="0"/>
                <a:ea typeface="Times New Roman" panose="02020603050405020304" pitchFamily="18" charset="0"/>
              </a:rPr>
              <a:t>  in this the second person places his/her finger on the fingerprint module .</a:t>
            </a:r>
          </a:p>
          <a:p>
            <a:pPr marL="457200" indent="-457200">
              <a:buFont typeface="Wingdings" panose="05000000000000000000" pitchFamily="2" charset="2"/>
              <a:buChar char="Ø"/>
            </a:pPr>
            <a:r>
              <a:rPr lang="en-IN" sz="2800" kern="100" dirty="0">
                <a:solidFill>
                  <a:srgbClr val="000000"/>
                </a:solidFill>
                <a:effectLst/>
                <a:latin typeface="Times New Roman" panose="02020603050405020304" pitchFamily="18" charset="0"/>
                <a:ea typeface="Times New Roman" panose="02020603050405020304" pitchFamily="18" charset="0"/>
              </a:rPr>
              <a:t>Then the </a:t>
            </a:r>
            <a:r>
              <a:rPr lang="en-IN" sz="2800" kern="100" dirty="0">
                <a:solidFill>
                  <a:srgbClr val="000000"/>
                </a:solidFill>
                <a:latin typeface="Times New Roman" panose="02020603050405020304" pitchFamily="18" charset="0"/>
                <a:ea typeface="Times New Roman" panose="02020603050405020304" pitchFamily="18" charset="0"/>
              </a:rPr>
              <a:t>LCD </a:t>
            </a:r>
            <a:r>
              <a:rPr lang="en-IN" sz="2800" kern="100" dirty="0">
                <a:solidFill>
                  <a:srgbClr val="000000"/>
                </a:solidFill>
                <a:effectLst/>
                <a:latin typeface="Times New Roman" panose="02020603050405020304" pitchFamily="18" charset="0"/>
                <a:ea typeface="Times New Roman" panose="02020603050405020304" pitchFamily="18" charset="0"/>
              </a:rPr>
              <a:t> will display that </a:t>
            </a:r>
            <a:r>
              <a:rPr lang="en-IN" sz="2800" dirty="0">
                <a:solidFill>
                  <a:srgbClr val="000000"/>
                </a:solidFill>
                <a:effectLst/>
                <a:latin typeface="Times New Roman" panose="02020603050405020304" pitchFamily="18" charset="0"/>
                <a:ea typeface="Times New Roman" panose="02020603050405020304" pitchFamily="18" charset="0"/>
              </a:rPr>
              <a:t>“FINGERPRINT SUCCESSFUL SHOW RFID TAG”</a:t>
            </a:r>
            <a:r>
              <a:rPr lang="en-IN" sz="2800" kern="100" dirty="0">
                <a:solidFill>
                  <a:srgbClr val="000000"/>
                </a:solidFill>
                <a:effectLst/>
                <a:latin typeface="Times New Roman" panose="02020603050405020304" pitchFamily="18" charset="0"/>
                <a:ea typeface="Times New Roman" panose="02020603050405020304" pitchFamily="18" charset="0"/>
              </a:rPr>
              <a:t> so instead of showing the 2</a:t>
            </a:r>
            <a:r>
              <a:rPr lang="en-IN" sz="2800" kern="100" baseline="30000" dirty="0">
                <a:solidFill>
                  <a:srgbClr val="000000"/>
                </a:solidFill>
                <a:effectLst/>
                <a:latin typeface="Times New Roman" panose="02020603050405020304" pitchFamily="18" charset="0"/>
                <a:ea typeface="Times New Roman" panose="02020603050405020304" pitchFamily="18" charset="0"/>
              </a:rPr>
              <a:t>nd</a:t>
            </a:r>
            <a:r>
              <a:rPr lang="en-IN" sz="2800" kern="100" dirty="0">
                <a:solidFill>
                  <a:srgbClr val="000000"/>
                </a:solidFill>
                <a:effectLst/>
                <a:latin typeface="Times New Roman" panose="02020603050405020304" pitchFamily="18" charset="0"/>
                <a:ea typeface="Times New Roman" panose="02020603050405020304" pitchFamily="18" charset="0"/>
              </a:rPr>
              <a:t> persons RFID tag we tried with the 1</a:t>
            </a:r>
            <a:r>
              <a:rPr lang="en-IN" sz="2800" kern="100" baseline="30000" dirty="0">
                <a:solidFill>
                  <a:srgbClr val="000000"/>
                </a:solidFill>
                <a:effectLst/>
                <a:latin typeface="Times New Roman" panose="02020603050405020304" pitchFamily="18" charset="0"/>
                <a:ea typeface="Times New Roman" panose="02020603050405020304" pitchFamily="18" charset="0"/>
              </a:rPr>
              <a:t>st</a:t>
            </a:r>
            <a:r>
              <a:rPr lang="en-IN" sz="2800" kern="100" dirty="0">
                <a:solidFill>
                  <a:srgbClr val="000000"/>
                </a:solidFill>
                <a:effectLst/>
                <a:latin typeface="Times New Roman" panose="02020603050405020304" pitchFamily="18" charset="0"/>
                <a:ea typeface="Times New Roman" panose="02020603050405020304" pitchFamily="18" charset="0"/>
              </a:rPr>
              <a:t> persons RFID tag .</a:t>
            </a:r>
          </a:p>
          <a:p>
            <a:pPr marL="457200" indent="-457200">
              <a:buFont typeface="Wingdings" panose="05000000000000000000" pitchFamily="2" charset="2"/>
              <a:buChar char="Ø"/>
            </a:pPr>
            <a:r>
              <a:rPr lang="en-IN" sz="2800" kern="100" dirty="0">
                <a:solidFill>
                  <a:srgbClr val="000000"/>
                </a:solidFill>
                <a:latin typeface="Times New Roman" panose="02020603050405020304" pitchFamily="18" charset="0"/>
                <a:ea typeface="Times New Roman" panose="02020603050405020304" pitchFamily="18" charset="0"/>
              </a:rPr>
              <a:t>W</a:t>
            </a:r>
            <a:r>
              <a:rPr lang="en-IN" sz="2800" kern="100" dirty="0">
                <a:solidFill>
                  <a:srgbClr val="000000"/>
                </a:solidFill>
                <a:effectLst/>
                <a:latin typeface="Times New Roman" panose="02020603050405020304" pitchFamily="18" charset="0"/>
                <a:ea typeface="Times New Roman" panose="02020603050405020304" pitchFamily="18" charset="0"/>
              </a:rPr>
              <a:t>hen we place the 1st  person RFID tag to the RFID reader module. </a:t>
            </a:r>
          </a:p>
          <a:p>
            <a:pPr marL="457200" indent="-457200">
              <a:buFont typeface="Wingdings" panose="05000000000000000000" pitchFamily="2" charset="2"/>
              <a:buChar char="Ø"/>
            </a:pPr>
            <a:r>
              <a:rPr lang="en-IN" sz="2800" kern="100" dirty="0">
                <a:solidFill>
                  <a:srgbClr val="000000"/>
                </a:solidFill>
                <a:effectLst/>
                <a:latin typeface="Times New Roman" panose="02020603050405020304" pitchFamily="18" charset="0"/>
                <a:ea typeface="Times New Roman" panose="02020603050405020304" pitchFamily="18" charset="0"/>
              </a:rPr>
              <a:t>It will show </a:t>
            </a:r>
            <a:r>
              <a:rPr lang="en-IN" sz="2800" kern="100" dirty="0" err="1">
                <a:solidFill>
                  <a:srgbClr val="000000"/>
                </a:solidFill>
                <a:effectLst/>
                <a:latin typeface="Times New Roman" panose="02020603050405020304" pitchFamily="18" charset="0"/>
                <a:ea typeface="Times New Roman" panose="02020603050405020304" pitchFamily="18" charset="0"/>
              </a:rPr>
              <a:t>that</a:t>
            </a:r>
            <a:r>
              <a:rPr lang="en-IN" sz="2800" kern="1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“RFID</a:t>
            </a:r>
            <a:r>
              <a:rPr lang="en-IN" sz="2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NOT MATCHED WITH THE FINGERPRINT”  on the LCD  display . At this condition the RED LED will </a:t>
            </a:r>
            <a:r>
              <a:rPr lang="en-IN" sz="2800" kern="1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glown</a:t>
            </a:r>
            <a:r>
              <a:rPr lang="en-IN" sz="2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2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We can see the output below.</a:t>
            </a:r>
            <a:r>
              <a:rPr lang="en-IN" sz="2800" kern="100" dirty="0">
                <a:solidFill>
                  <a:srgbClr val="000000"/>
                </a:solidFill>
                <a:effectLst/>
                <a:latin typeface="Times New Roman" panose="02020603050405020304" pitchFamily="18" charset="0"/>
                <a:ea typeface="Times New Roman" panose="02020603050405020304" pitchFamily="18" charset="0"/>
              </a:rPr>
              <a:t> </a:t>
            </a:r>
            <a:endParaRPr lang="en-IN" sz="2800" dirty="0"/>
          </a:p>
        </p:txBody>
      </p:sp>
    </p:spTree>
    <p:extLst>
      <p:ext uri="{BB962C8B-B14F-4D97-AF65-F5344CB8AC3E}">
        <p14:creationId xmlns:p14="http://schemas.microsoft.com/office/powerpoint/2010/main" val="404839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0998FAA-4C50-81D2-BE07-1B2B8988A5B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rot="16200000">
            <a:off x="3382927" y="-2497882"/>
            <a:ext cx="5426144" cy="11083593"/>
          </a:xfrm>
          <a:prstGeom prst="rect">
            <a:avLst/>
          </a:prstGeom>
          <a:noFill/>
          <a:ln>
            <a:noFill/>
          </a:ln>
        </p:spPr>
      </p:pic>
      <p:sp>
        <p:nvSpPr>
          <p:cNvPr id="3" name="TextBox 2">
            <a:extLst>
              <a:ext uri="{FF2B5EF4-FFF2-40B4-BE49-F238E27FC236}">
                <a16:creationId xmlns:a16="http://schemas.microsoft.com/office/drawing/2014/main" id="{B555DD45-0C8A-3FEA-69AA-CDA8A32636A0}"/>
              </a:ext>
            </a:extLst>
          </p:cNvPr>
          <p:cNvSpPr txBox="1"/>
          <p:nvPr/>
        </p:nvSpPr>
        <p:spPr>
          <a:xfrm>
            <a:off x="3741575" y="5872014"/>
            <a:ext cx="5663680" cy="584775"/>
          </a:xfrm>
          <a:prstGeom prst="rect">
            <a:avLst/>
          </a:prstGeom>
          <a:noFill/>
        </p:spPr>
        <p:txBody>
          <a:bodyPr wrap="square" rtlCol="0">
            <a:spAutoFit/>
          </a:bodyPr>
          <a:lstStyle/>
          <a:p>
            <a:r>
              <a:rPr lang="en-US" sz="3200" b="1" dirty="0"/>
              <a:t>Implementation 2 – Result </a:t>
            </a:r>
            <a:endParaRPr lang="en-IN" sz="3200" b="1" dirty="0"/>
          </a:p>
        </p:txBody>
      </p:sp>
    </p:spTree>
    <p:extLst>
      <p:ext uri="{BB962C8B-B14F-4D97-AF65-F5344CB8AC3E}">
        <p14:creationId xmlns:p14="http://schemas.microsoft.com/office/powerpoint/2010/main" val="16608660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27+ Templates For Powerpoint Aesthetic Pics">
            <a:extLst>
              <a:ext uri="{FF2B5EF4-FFF2-40B4-BE49-F238E27FC236}">
                <a16:creationId xmlns:a16="http://schemas.microsoft.com/office/drawing/2014/main" id="{D732E643-AAF6-CAC2-9D5F-9B861C6915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4" y="0"/>
            <a:ext cx="12193594" cy="685799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E089DF1-5FBE-D8C4-5E5C-3152F3C04686}"/>
              </a:ext>
            </a:extLst>
          </p:cNvPr>
          <p:cNvSpPr txBox="1"/>
          <p:nvPr/>
        </p:nvSpPr>
        <p:spPr>
          <a:xfrm>
            <a:off x="770932" y="1029869"/>
            <a:ext cx="10648541" cy="5114990"/>
          </a:xfrm>
          <a:prstGeom prst="rect">
            <a:avLst/>
          </a:prstGeom>
          <a:noFill/>
        </p:spPr>
        <p:txBody>
          <a:bodyPr wrap="square">
            <a:spAutoFit/>
          </a:bodyPr>
          <a:lstStyle/>
          <a:p>
            <a:pPr>
              <a:lnSpc>
                <a:spcPct val="115000"/>
              </a:lnSpc>
              <a:spcAft>
                <a:spcPts val="800"/>
              </a:spcAft>
            </a:pPr>
            <a:r>
              <a:rPr lang="en-IN" sz="24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IMPLEMENTATION 3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IN" sz="24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24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If we go with the implementation 3 in this we have used ID card (BARCODE) instead of RFID tag . In this case the RFID reader module will not scan the ID card (BARCODE) of the student. Because RFID reader module will only scan the RFID tag. In In this case if we observe  the red LED will glow. </a:t>
            </a:r>
          </a:p>
          <a:p>
            <a:pPr>
              <a:lnSpc>
                <a:spcPct val="115000"/>
              </a:lnSpc>
              <a:spcAft>
                <a:spcPts val="800"/>
              </a:spcAft>
            </a:pP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IN" sz="24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IMPLEMENTATION 4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IN" sz="24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 this case we have replaced the RFID tag with the QR code (scanner ). In this case the RFID reader module will not scan the QR code (scanner ) . Because RFID reader module will only scan the RFID tag. In this case also the red LED will glow. </a:t>
            </a:r>
          </a:p>
          <a:p>
            <a:pPr>
              <a:lnSpc>
                <a:spcPct val="115000"/>
              </a:lnSpc>
              <a:spcAft>
                <a:spcPts val="800"/>
              </a:spcAft>
            </a:pP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911311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27+ Templates For Powerpoint Aesthetic Pics">
            <a:extLst>
              <a:ext uri="{FF2B5EF4-FFF2-40B4-BE49-F238E27FC236}">
                <a16:creationId xmlns:a16="http://schemas.microsoft.com/office/drawing/2014/main" id="{DF70B4D1-6885-876B-E46C-BE5628597E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4" y="0"/>
            <a:ext cx="12193594" cy="685799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AB68470-6ECF-9B65-3CCD-25ECD08827AF}"/>
              </a:ext>
            </a:extLst>
          </p:cNvPr>
          <p:cNvSpPr txBox="1"/>
          <p:nvPr/>
        </p:nvSpPr>
        <p:spPr>
          <a:xfrm>
            <a:off x="1005373" y="988102"/>
            <a:ext cx="10592579" cy="5139869"/>
          </a:xfrm>
          <a:prstGeom prst="rect">
            <a:avLst/>
          </a:prstGeom>
          <a:noFill/>
        </p:spPr>
        <p:txBody>
          <a:bodyPr wrap="square">
            <a:spAutoFit/>
          </a:bodyPr>
          <a:lstStyle/>
          <a:p>
            <a:r>
              <a:rPr lang="en-US" sz="3200" b="1" dirty="0"/>
              <a:t>CONCLUSION: </a:t>
            </a:r>
            <a:r>
              <a:rPr lang="en-US" sz="2400" dirty="0"/>
              <a:t>We were able to design an embedded system for examination room navigation that was both cost-effective and time-efficient by combining RFID technology and a fingerprint module. The existing method can be improved by adding an infrared sensor and </a:t>
            </a:r>
            <a:r>
              <a:rPr lang="en-US" sz="2400" dirty="0" err="1"/>
              <a:t>utilised</a:t>
            </a:r>
            <a:r>
              <a:rPr lang="en-US" sz="2400" dirty="0"/>
              <a:t> to track attendance. As a result, the system offers a wide range of potential development that can lead to significant advancements. </a:t>
            </a:r>
          </a:p>
          <a:p>
            <a:endParaRPr lang="en-US" sz="2400" dirty="0"/>
          </a:p>
          <a:p>
            <a:r>
              <a:rPr lang="en-US" sz="3200" b="1" dirty="0"/>
              <a:t>FUTURE SCOPE: </a:t>
            </a:r>
            <a:r>
              <a:rPr lang="en-US" sz="2400" dirty="0"/>
              <a:t>In addition to the present system, a facial recognition system can be incorporated for increased safety. More capabilities are being added, such as the ability to keep track of a student's details, such as fees due, library transactions, and attendance. The notion is not only useful to students but also to corporations, depending on how well it is implemented, as seen by the seeds that have sprouted into a variety of viable projects</a:t>
            </a:r>
            <a:r>
              <a:rPr lang="en-US" dirty="0"/>
              <a:t>.</a:t>
            </a:r>
            <a:endParaRPr lang="en-IN" dirty="0"/>
          </a:p>
        </p:txBody>
      </p:sp>
    </p:spTree>
    <p:extLst>
      <p:ext uri="{BB962C8B-B14F-4D97-AF65-F5344CB8AC3E}">
        <p14:creationId xmlns:p14="http://schemas.microsoft.com/office/powerpoint/2010/main" val="27527097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hank-you Images, Stock Photos &amp; Vectors | Shutterstock">
            <a:extLst>
              <a:ext uri="{FF2B5EF4-FFF2-40B4-BE49-F238E27FC236}">
                <a16:creationId xmlns:a16="http://schemas.microsoft.com/office/drawing/2014/main" id="{CD8F55B0-CFCB-D847-B412-9A0B2B2171B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13" t="20391" r="-1913" b="7302"/>
          <a:stretch/>
        </p:blipFill>
        <p:spPr bwMode="auto">
          <a:xfrm>
            <a:off x="-142240" y="1"/>
            <a:ext cx="1255776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23933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2310</TotalTime>
  <Words>2018</Words>
  <Application>Microsoft Office PowerPoint</Application>
  <PresentationFormat>Widescreen</PresentationFormat>
  <Paragraphs>203</Paragraphs>
  <Slides>24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Calibri Light</vt:lpstr>
      <vt:lpstr>Footlight MT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gottumukkula susmitha</dc:creator>
  <cp:lastModifiedBy>gottumukkula susmitha</cp:lastModifiedBy>
  <cp:revision>21</cp:revision>
  <dcterms:created xsi:type="dcterms:W3CDTF">2024-04-22T14:34:18Z</dcterms:created>
  <dcterms:modified xsi:type="dcterms:W3CDTF">2024-06-22T04:30:40Z</dcterms:modified>
</cp:coreProperties>
</file>